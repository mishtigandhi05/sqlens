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faculty evaluator. I am Mishti Parikshit Gandhi, registration number 24BCE0881, presenting Review 2 for my Compiler Design Laboratory project titled 'SQLens: An Educational SQL Compiler and Query Analysis Visualizer'. In this review, I will present the complete implementation of our C++ compiler frontend and backend, our relational query optimizer, CSV execution engine, and our interactive web visualizer workbench.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slide, I summarize what SQLens is and our current implementation status. SQLens implements an educational MiniSQL compiler in C++ that exposes all 10 stages of query compilation. Traditional compilers are often treated as black boxes. SQLens makes each intermediate stage observable. As of Review 2, our entire compiler frontend and backend are 100% complete, verified by 26 automated tests, and connected to an interactive local web workbench.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revised problem statement. In traditional curricula, students learn compiler theory using C-like languages and DBMS theory using abstract relational algebra, but the bridge between them is rarely visible. Our revised problem statement highlights that SQLens addresses this gap by implementing a lightweight MiniSQL compiler in C++ and exposing its complete 10-stage query processing pipeline through an integrated visual workflow.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6 concrete, measurable objectives defined for SQLens. Every objective directly corresponds to implemented C++ modules in the repository: from Flex and Bison parsing, through AST and Symbol Table verification, down to Relational IR generation, algebraic optimization rules, and CSV execution with strict fail-stop error reporting.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maintain academic honesty, this slide explicitly contrasts what SQLens supports versus what is currently out of scope. We support declarative SELECT queries with multi-column projection, comparisons, logical AND/OR, parenthesized predicates, ORDER BY, and LIMIT over our students relation. Features like multi-table joins and GROUP BY aggregations are intentionally excluded from Phase 2 to ensure high technical depth on the core compilation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complete system architecture of SQLens. It is partitioned into three clean tiers: the user interface layer running on React and Node.js, our native C++ compiler engine consisting of 10 sequential stages from Flex and Bison down to CSV execution, and our physical storage and fail-stop error handling system. Notice that the web app is not a mock; it invokes the real compiled binary via child process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detail the frontend compiler phases. Our lexer, written in Flex, converts raw SQL characters into strongly typed TokenRecords, trapping illegal symbols immediately. Our parser, written in Bison, uses LALR(1) grammar rules with explicit operator precedence to validate query structure and construct the AST bottom-up. The bottom box shows the real token stream generated for our standard test query.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describes AST construction and semantic analysis. Once Bison parses the query, it builds a typed AST hierarchy. Next, our semantic analyzer consults the symbol table catalog to verify that the table and all referenced columns exist, and performs strict type-checking on expressions. If a query requests a non-existent column like 'salary' or compares a float against a string, it is halted immediately at Stage 06.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Intermediate Representation. While compilers for languages like C generate Three-Address Code or LLVM IR, a database query compiler translates the AST into a Relational Algebra Operator Tree. We implement five relational operators: Scan, Filter, Sort, Project, and Limit. The tree on the right shows the canonical plan generated bottom-up from the students table up to the final limit.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10, we examine Query Optimization. Our optimizer implements algebraic transformations: Filter Pushdown, Late Projection, and Limit Early-Stopping. A classic relational problem occurs when a query sorts by a column that is not selected in projection. Naive execution fails because early projection deletes the sort key. Our optimizer detects this and safely reorders projection above sort, guaranteeing semantic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shows how physical execution operates on real CSV data. Our executor loads students.csv, dynamically parses typed fields, filters rows according to the WHERE expression, sorts the tuples in memory, projects the requested attributes, and applies the limit. The right card shows the actual execution trace produced by minisql.exe, confirming the exact returned tuples.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12, we illustrate our fail-stop error isolation mechanism. One of our key goals was ensuring that a syntax error stops before the AST is built, and a semantic error stops before IR generation. This table displays the exact diagnostic messages emitted by our system for each error category, tested and verified directly against minisql.exe.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interactive web visualizer workbench. Built on React 18 and Node.js, the workbench acts as a graphical debugger for our C++ compiler. It features a 10-stage animated pipeline stepper, an interactive token table, collapsible AST tree views, side-by-side plan comparisons, and a built-in viva guide modal. It runs entirely on localhost for offline lab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our automated testing results. We implemented a PowerShell testing harness that runs 26 test cases against minisql.exe. As shown in the table, the suite verifies projections, float and integer comparisons, compound boolean logic, late projection rewrites, boundary limits, and all error traps. All 26 tests pass with 100% success 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provides our module-wise implementation progress matrix. Modules 1 through 10—covering the complete C++ compiler frontend, relational backend, and error isolation—are 100% complete and verified. Our web visualizer workbench is approximately 80% complete and fully usable for demonstration. Multi-table joins are honestly marked as pending for Phase 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maps our project evidence directly to the official 25-mark Review 2 evaluation rubric from the laboratory manual: Implementation Progress (7 marks), Technical Correctness (5 marks), Compiler Concept Application (4 marks), Code Quality (3 marks), Testing (3 marks), and Individual Understanding (3 marks). We have prepared concrete demonstration evidence for every criterion.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surveys recent peer-reviewed literature in compiler education from 2020 to 2025. Papers by Stamenković, del Vado Vírseda, and Koitz-Hristov prove that interactive visualization tools significantly improve students' conceptual grasp of compilers and optimization passes. SQLens builds on this foundation by applying interactive visualization specifically to the relational database query domain.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18, we provide an honest assessment of our contribution. We do not claim that compiler visualization is a new invention or that SQLens is a production DBMS. Rather, our genuine engineering contribution lies in bridging compiler frontends and database query engines, providing a zero-mock C++ execution backend, enforcing stage-by-stage error isolation, and offering interactive relational plan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outlines our roadmap and research potential. For Phase 3, we plan to implement multi-table joins, aggregate functions, and animated tuple filtering. Furthermore, we identify ACM SIGCSE as an ideal research venue. However, we note that a software tool alone is not a paper; submitting to SIGCSE would require conducting a formal controlled empirical classroom study with student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SQLens has accomplished all Phase 1 and Phase 2 milestones with high technical rigor and 100% automated test verification. I will now proceed to the live demonstration, following our 5-step demonstration plan: executing our grand tour query, inspecting the relational optimizer, demonstrating semantic and lexical error isolation, and running our 26-test automated suite.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lists our academic references, including foundational textbooks, recent papers on compiler visualization from ACM ITiCSE, SIGCSE, and IEEE TLT between 2020 and 2025, and the official VIT Compiler Design Laboratory manual. Thank you for your time.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362895" cy="2011680"/>
          </a:xfrm>
          <a:prstGeom prst="rect">
            <a:avLst/>
          </a:prstGeom>
          <a:noFill/>
        </p:spPr>
        <p:txBody>
          <a:bodyPr wrap="square">
            <a:spAutoFit/>
          </a:bodyPr>
          <a:lstStyle/>
          <a:p>
            <a:pPr>
              <a:defRPr sz="3600" b="1">
                <a:solidFill>
                  <a:srgbClr val="111827"/>
                </a:solidFill>
                <a:latin typeface="Calibri"/>
              </a:defRPr>
            </a:pPr>
            <a:r>
              <a:t>SQLens</a:t>
            </a:r>
          </a:p>
          <a:p>
            <a:pPr>
              <a:spcBef>
                <a:spcPts val="800"/>
              </a:spcBef>
              <a:defRPr sz="2200" b="1">
                <a:solidFill>
                  <a:srgbClr val="374151"/>
                </a:solidFill>
                <a:latin typeface="Calibri"/>
              </a:defRPr>
            </a:pPr>
            <a:r>
              <a:t>An Educational SQL Compiler and Query Analysis Visualizer</a:t>
            </a:r>
          </a:p>
          <a:p>
            <a:pPr>
              <a:spcBef>
                <a:spcPts val="600"/>
              </a:spcBef>
              <a:defRPr sz="1300">
                <a:solidFill>
                  <a:srgbClr val="6B7280"/>
                </a:solidFill>
                <a:latin typeface="Calibri"/>
              </a:defRPr>
            </a:pPr>
            <a:r>
              <a:t>Compiler Design Laboratory (BCSE307P) — Review 2: Implementation Progress Review</a:t>
            </a:r>
          </a:p>
        </p:txBody>
      </p:sp>
      <p:sp>
        <p:nvSpPr>
          <p:cNvPr id="3" name="Rectangle 2"/>
          <p:cNvSpPr/>
          <p:nvPr/>
        </p:nvSpPr>
        <p:spPr>
          <a:xfrm>
            <a:off x="914400" y="3566160"/>
            <a:ext cx="10362895" cy="18288"/>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931920"/>
            <a:ext cx="5029200" cy="2286000"/>
          </a:xfrm>
          <a:prstGeom prst="rect">
            <a:avLst/>
          </a:prstGeom>
          <a:noFill/>
        </p:spPr>
        <p:txBody>
          <a:bodyPr wrap="square">
            <a:spAutoFit/>
          </a:bodyPr>
          <a:lstStyle/>
          <a:p>
            <a:pPr>
              <a:defRPr sz="1100" b="1">
                <a:solidFill>
                  <a:srgbClr val="111827"/>
                </a:solidFill>
                <a:latin typeface="Calibri"/>
              </a:defRPr>
            </a:pPr>
            <a:r>
              <a:t>STUDENT DETAILS</a:t>
            </a:r>
          </a:p>
          <a:p>
            <a:pPr>
              <a:spcAft>
                <a:spcPts val="500"/>
              </a:spcAft>
              <a:defRPr sz="1100">
                <a:latin typeface="Calibri"/>
              </a:defRPr>
            </a:pPr>
            <a:r>
              <a:rPr b="1">
                <a:solidFill>
                  <a:srgbClr val="111827"/>
                </a:solidFill>
              </a:rPr>
              <a:t>•  Candidate Name: </a:t>
            </a:r>
            <a:r>
              <a:rPr b="0">
                <a:solidFill>
                  <a:srgbClr val="374151"/>
                </a:solidFill>
              </a:rPr>
              <a:t>Mishti Parikshit Gandhi</a:t>
            </a:r>
          </a:p>
          <a:p>
            <a:pPr>
              <a:spcAft>
                <a:spcPts val="500"/>
              </a:spcAft>
              <a:defRPr sz="1100">
                <a:latin typeface="Calibri"/>
              </a:defRPr>
            </a:pPr>
            <a:r>
              <a:rPr b="1">
                <a:solidFill>
                  <a:srgbClr val="111827"/>
                </a:solidFill>
              </a:rPr>
              <a:t>•  Registration Number: </a:t>
            </a:r>
            <a:r>
              <a:rPr b="0">
                <a:solidFill>
                  <a:srgbClr val="374151"/>
                </a:solidFill>
              </a:rPr>
              <a:t>24BCE0881</a:t>
            </a:r>
          </a:p>
          <a:p>
            <a:pPr>
              <a:spcAft>
                <a:spcPts val="500"/>
              </a:spcAft>
              <a:defRPr sz="1100">
                <a:latin typeface="Calibri"/>
              </a:defRPr>
            </a:pPr>
            <a:r>
              <a:rPr b="1">
                <a:solidFill>
                  <a:srgbClr val="111827"/>
                </a:solidFill>
              </a:rPr>
              <a:t>•  Course &amp; Code: </a:t>
            </a:r>
            <a:r>
              <a:rPr b="0">
                <a:solidFill>
                  <a:srgbClr val="374151"/>
                </a:solidFill>
              </a:rPr>
              <a:t>Compiler Design Lab (BCSE307P)</a:t>
            </a:r>
          </a:p>
          <a:p>
            <a:pPr>
              <a:spcAft>
                <a:spcPts val="500"/>
              </a:spcAft>
              <a:defRPr sz="1100">
                <a:latin typeface="Calibri"/>
              </a:defRPr>
            </a:pPr>
            <a:r>
              <a:rPr b="1">
                <a:solidFill>
                  <a:srgbClr val="111827"/>
                </a:solidFill>
              </a:rPr>
              <a:t>•  Laboratory Slot: </a:t>
            </a:r>
            <a:r>
              <a:rPr b="0">
                <a:solidFill>
                  <a:srgbClr val="374151"/>
                </a:solidFill>
              </a:rPr>
              <a:t>L49 + L50</a:t>
            </a:r>
          </a:p>
        </p:txBody>
      </p:sp>
      <p:sp>
        <p:nvSpPr>
          <p:cNvPr id="5" name="TextBox 4"/>
          <p:cNvSpPr txBox="1"/>
          <p:nvPr/>
        </p:nvSpPr>
        <p:spPr>
          <a:xfrm>
            <a:off x="6217920" y="3931920"/>
            <a:ext cx="5029200" cy="2286000"/>
          </a:xfrm>
          <a:prstGeom prst="rect">
            <a:avLst/>
          </a:prstGeom>
          <a:noFill/>
        </p:spPr>
        <p:txBody>
          <a:bodyPr wrap="square">
            <a:spAutoFit/>
          </a:bodyPr>
          <a:lstStyle/>
          <a:p>
            <a:pPr>
              <a:defRPr sz="1100" b="1">
                <a:solidFill>
                  <a:srgbClr val="111827"/>
                </a:solidFill>
                <a:latin typeface="Calibri"/>
              </a:defRPr>
            </a:pPr>
            <a:r>
              <a:t>ACADEMIC &amp; REVIEW DETAILS</a:t>
            </a:r>
          </a:p>
          <a:p>
            <a:pPr>
              <a:spcAft>
                <a:spcPts val="500"/>
              </a:spcAft>
              <a:defRPr sz="1100">
                <a:latin typeface="Calibri"/>
              </a:defRPr>
            </a:pPr>
            <a:r>
              <a:rPr b="1">
                <a:solidFill>
                  <a:srgbClr val="111827"/>
                </a:solidFill>
              </a:rPr>
              <a:t>•  Faculty Reviewer: </a:t>
            </a:r>
            <a:r>
              <a:rPr b="0">
                <a:solidFill>
                  <a:srgbClr val="374151"/>
                </a:solidFill>
              </a:rPr>
              <a:t>[Faculty Name / Reviewer]</a:t>
            </a:r>
          </a:p>
          <a:p>
            <a:pPr>
              <a:spcAft>
                <a:spcPts val="500"/>
              </a:spcAft>
              <a:defRPr sz="1100">
                <a:latin typeface="Calibri"/>
              </a:defRPr>
            </a:pPr>
            <a:r>
              <a:rPr b="1">
                <a:solidFill>
                  <a:srgbClr val="111827"/>
                </a:solidFill>
              </a:rPr>
              <a:t>•  Department: </a:t>
            </a:r>
            <a:r>
              <a:rPr b="0">
                <a:solidFill>
                  <a:srgbClr val="374151"/>
                </a:solidFill>
              </a:rPr>
              <a:t>School of Computer Science and Engineering (SCOPE)</a:t>
            </a:r>
          </a:p>
          <a:p>
            <a:pPr>
              <a:spcAft>
                <a:spcPts val="500"/>
              </a:spcAft>
              <a:defRPr sz="1100">
                <a:latin typeface="Calibri"/>
              </a:defRPr>
            </a:pPr>
            <a:r>
              <a:rPr b="1">
                <a:solidFill>
                  <a:srgbClr val="111827"/>
                </a:solidFill>
              </a:rPr>
              <a:t>•  Institution: </a:t>
            </a:r>
            <a:r>
              <a:rPr b="0">
                <a:solidFill>
                  <a:srgbClr val="374151"/>
                </a:solidFill>
              </a:rPr>
              <a:t>Vellore Institute of Technology, Vellore</a:t>
            </a:r>
          </a:p>
          <a:p>
            <a:pPr>
              <a:spcAft>
                <a:spcPts val="500"/>
              </a:spcAft>
              <a:defRPr sz="1100">
                <a:latin typeface="Calibri"/>
              </a:defRPr>
            </a:pPr>
            <a:r>
              <a:rPr b="1">
                <a:solidFill>
                  <a:srgbClr val="111827"/>
                </a:solidFill>
              </a:rPr>
              <a:t>•  Review Stage: </a:t>
            </a:r>
            <a:r>
              <a:rPr b="0">
                <a:solidFill>
                  <a:srgbClr val="374151"/>
                </a:solidFill>
              </a:rPr>
              <a:t>Phase 2 / Review 2 Evaluation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PROJECT OVERVIEW</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Project Overview: Concept, Purpose &amp; Current Status</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2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What is SQLens &amp; What Problem Does It Address?</a:t>
            </a:r>
          </a:p>
          <a:p>
            <a:pPr>
              <a:spcBef>
                <a:spcPts val="300"/>
              </a:spcBef>
              <a:defRPr sz="1000">
                <a:solidFill>
                  <a:srgbClr val="6B7280"/>
                </a:solidFill>
                <a:latin typeface="Calibri"/>
              </a:defRPr>
            </a:pPr>
            <a:r>
              <a:t>System Concept &amp; Core Motivation</a:t>
            </a:r>
          </a:p>
          <a:p>
            <a:pPr>
              <a:spcAft>
                <a:spcPts val="800"/>
              </a:spcAft>
              <a:defRPr sz="1100">
                <a:latin typeface="Calibri"/>
              </a:defRPr>
            </a:pPr>
            <a:r>
              <a:rPr b="1">
                <a:solidFill>
                  <a:srgbClr val="111827"/>
                </a:solidFill>
              </a:rPr>
              <a:t>•  Domain-Specific Compiler: </a:t>
            </a:r>
            <a:r>
              <a:rPr b="0">
                <a:solidFill>
                  <a:srgbClr val="374151"/>
                </a:solidFill>
              </a:rPr>
              <a:t>SQLens is an educational compiler built in C++ using Flex and Bison for a declarative MiniSQL language.</a:t>
            </a:r>
          </a:p>
          <a:p>
            <a:pPr>
              <a:spcAft>
                <a:spcPts val="800"/>
              </a:spcAft>
              <a:defRPr sz="1100">
                <a:latin typeface="Calibri"/>
              </a:defRPr>
            </a:pPr>
            <a:r>
              <a:rPr b="1">
                <a:solidFill>
                  <a:srgbClr val="111827"/>
                </a:solidFill>
              </a:rPr>
              <a:t>•  Bridging Two Core Disciplines: </a:t>
            </a:r>
            <a:r>
              <a:rPr b="0">
                <a:solidFill>
                  <a:srgbClr val="374151"/>
                </a:solidFill>
              </a:rPr>
              <a:t>Connects Compiler Design principles (lexing, LALR parsing, ASTs, type checking) with Database Systems (relational algebra, optimization trees, physical scans).</a:t>
            </a:r>
          </a:p>
          <a:p>
            <a:pPr>
              <a:spcAft>
                <a:spcPts val="800"/>
              </a:spcAft>
              <a:defRPr sz="1100">
                <a:latin typeface="Calibri"/>
              </a:defRPr>
            </a:pPr>
            <a:r>
              <a:rPr b="1">
                <a:solidFill>
                  <a:srgbClr val="111827"/>
                </a:solidFill>
              </a:rPr>
              <a:t>•  Full Pipeline Transparency: </a:t>
            </a:r>
            <a:r>
              <a:rPr b="0">
                <a:solidFill>
                  <a:srgbClr val="374151"/>
                </a:solidFill>
              </a:rPr>
              <a:t>Replaces traditional black-box query compilers by exposing every transformation stage from source query text to final tabular records.</a:t>
            </a:r>
          </a:p>
          <a:p>
            <a:pPr>
              <a:spcAft>
                <a:spcPts val="800"/>
              </a:spcAft>
              <a:defRPr sz="1100">
                <a:latin typeface="Calibri"/>
              </a:defRPr>
            </a:pPr>
            <a:r>
              <a:rPr b="1">
                <a:solidFill>
                  <a:srgbClr val="111827"/>
                </a:solidFill>
              </a:rPr>
              <a:t>•  Zero Mock Outputs: </a:t>
            </a:r>
            <a:r>
              <a:rPr b="0">
                <a:solidFill>
                  <a:srgbClr val="374151"/>
                </a:solidFill>
              </a:rPr>
              <a:t>All representations, token streams, AST nodes, relational plans, and row traces are produced by the real compiled C++ executable (minisql.exe).</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Review 2 Implementation Status</a:t>
            </a:r>
          </a:p>
          <a:p>
            <a:pPr>
              <a:spcBef>
                <a:spcPts val="300"/>
              </a:spcBef>
              <a:defRPr sz="1000">
                <a:solidFill>
                  <a:srgbClr val="6B7280"/>
                </a:solidFill>
                <a:latin typeface="Calibri"/>
              </a:defRPr>
            </a:pPr>
            <a:r>
              <a:t>Verified Engineering Achievements</a:t>
            </a:r>
          </a:p>
          <a:p>
            <a:pPr>
              <a:spcAft>
                <a:spcPts val="800"/>
              </a:spcAft>
              <a:defRPr sz="1100">
                <a:latin typeface="Calibri"/>
              </a:defRPr>
            </a:pPr>
            <a:r>
              <a:rPr b="1">
                <a:solidFill>
                  <a:srgbClr val="111827"/>
                </a:solidFill>
              </a:rPr>
              <a:t>•  Phase 1 Frontend (100% Complete): </a:t>
            </a:r>
            <a:r>
              <a:rPr b="0">
                <a:solidFill>
                  <a:srgbClr val="374151"/>
                </a:solidFill>
              </a:rPr>
              <a:t>Lexical scanner (Flex), LALR(1) parser (Bison), AST hierarchy, symbol table catalog, and semantic type checker.</a:t>
            </a:r>
          </a:p>
          <a:p>
            <a:pPr>
              <a:spcAft>
                <a:spcPts val="800"/>
              </a:spcAft>
              <a:defRPr sz="1100">
                <a:latin typeface="Calibri"/>
              </a:defRPr>
            </a:pPr>
            <a:r>
              <a:rPr b="1">
                <a:solidFill>
                  <a:srgbClr val="111827"/>
                </a:solidFill>
              </a:rPr>
              <a:t>•  Phase 2 Backend (100% Complete): </a:t>
            </a:r>
            <a:r>
              <a:rPr b="0">
                <a:solidFill>
                  <a:srgbClr val="374151"/>
                </a:solidFill>
              </a:rPr>
              <a:t>Canonical Relational IR generator, algebraic query optimizer, and in-memory CSV execution engine.</a:t>
            </a:r>
          </a:p>
          <a:p>
            <a:pPr>
              <a:spcAft>
                <a:spcPts val="800"/>
              </a:spcAft>
              <a:defRPr sz="1100">
                <a:latin typeface="Calibri"/>
              </a:defRPr>
            </a:pPr>
            <a:r>
              <a:rPr b="1">
                <a:solidFill>
                  <a:srgbClr val="111827"/>
                </a:solidFill>
              </a:rPr>
              <a:t>•  Automated Test Suite (100% Pass Rate): </a:t>
            </a:r>
            <a:r>
              <a:rPr b="0">
                <a:solidFill>
                  <a:srgbClr val="374151"/>
                </a:solidFill>
              </a:rPr>
              <a:t>26 automated unit and integration tests (26/26 passing) covering projections, filters, logic, ordering, limits, and fail-stop errors.</a:t>
            </a:r>
          </a:p>
          <a:p>
            <a:pPr>
              <a:spcAft>
                <a:spcPts val="800"/>
              </a:spcAft>
              <a:defRPr sz="1100">
                <a:latin typeface="Calibri"/>
              </a:defRPr>
            </a:pPr>
            <a:r>
              <a:rPr b="1">
                <a:solidFill>
                  <a:srgbClr val="111827"/>
                </a:solidFill>
              </a:rPr>
              <a:t>•  Interactive Web Workbench (~80% Complete): </a:t>
            </a:r>
            <a:r>
              <a:rPr b="0">
                <a:solidFill>
                  <a:srgbClr val="374151"/>
                </a:solidFill>
              </a:rPr>
              <a:t>React 18 / TypeScript frontend and Node.js API bridge providing 10-stage animated execution and viva theory guides.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PROBLEM STATEMENT</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Revised Problem Statement &amp; Educational Need</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3 / 21</a:t>
            </a:r>
          </a:p>
        </p:txBody>
      </p:sp>
      <p:sp>
        <p:nvSpPr>
          <p:cNvPr id="7" name="Rounded Rectangle 6"/>
          <p:cNvSpPr/>
          <p:nvPr/>
        </p:nvSpPr>
        <p:spPr>
          <a:xfrm>
            <a:off x="731520" y="1371600"/>
            <a:ext cx="10728655" cy="201168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The Problem in Conventional Compiler &amp; Database Instruction</a:t>
            </a:r>
          </a:p>
          <a:p>
            <a:pPr>
              <a:spcBef>
                <a:spcPts val="300"/>
              </a:spcBef>
              <a:defRPr sz="1000">
                <a:solidFill>
                  <a:srgbClr val="6B7280"/>
                </a:solidFill>
                <a:latin typeface="Calibri"/>
              </a:defRPr>
            </a:pPr>
            <a:r>
              <a:t>Pedagogical Challenges in Computer Science Curricula</a:t>
            </a:r>
          </a:p>
          <a:p>
            <a:pPr>
              <a:spcAft>
                <a:spcPts val="500"/>
              </a:spcAft>
              <a:defRPr sz="1100">
                <a:latin typeface="Calibri"/>
              </a:defRPr>
            </a:pPr>
            <a:r>
              <a:rPr b="1">
                <a:solidFill>
                  <a:srgbClr val="111827"/>
                </a:solidFill>
              </a:rPr>
              <a:t>•  Imperative Language Focus: </a:t>
            </a:r>
            <a:r>
              <a:rPr b="0">
                <a:solidFill>
                  <a:srgbClr val="374151"/>
                </a:solidFill>
              </a:rPr>
              <a:t>Academic compiler courses typically focus on C or Java subsets, making parsing and code generation feel abstract and disconnected from data-intensive systems.</a:t>
            </a:r>
          </a:p>
          <a:p>
            <a:pPr>
              <a:spcAft>
                <a:spcPts val="500"/>
              </a:spcAft>
              <a:defRPr sz="1100">
                <a:latin typeface="Calibri"/>
              </a:defRPr>
            </a:pPr>
            <a:r>
              <a:rPr b="1">
                <a:solidFill>
                  <a:srgbClr val="111827"/>
                </a:solidFill>
              </a:rPr>
              <a:t>•  Database Black Boxes: </a:t>
            </a:r>
            <a:r>
              <a:rPr b="0">
                <a:solidFill>
                  <a:srgbClr val="374151"/>
                </a:solidFill>
              </a:rPr>
              <a:t>In DBMS courses, students learn relational algebra expressions, query execution plans, and cost estimation theoretically, but never see how raw declarative SQL queries are tokenized, syntax-checked, and converted into relational algebra trees.</a:t>
            </a:r>
          </a:p>
          <a:p>
            <a:pPr>
              <a:spcAft>
                <a:spcPts val="500"/>
              </a:spcAft>
              <a:defRPr sz="1100">
                <a:latin typeface="Calibri"/>
              </a:defRPr>
            </a:pPr>
            <a:r>
              <a:rPr b="1">
                <a:solidFill>
                  <a:srgbClr val="111827"/>
                </a:solidFill>
              </a:rPr>
              <a:t>•  Inaccessible Monolithic Toolchains: </a:t>
            </a:r>
            <a:r>
              <a:rPr b="0">
                <a:solidFill>
                  <a:srgbClr val="374151"/>
                </a:solidFill>
              </a:rPr>
              <a:t>Industrial toolchains like GCC or LLVM are too complex for laboratory inspection, preventing students from stepping through AST construction, semantic verification, and optimization rewrites.</a:t>
            </a:r>
          </a:p>
        </p:txBody>
      </p:sp>
      <p:sp>
        <p:nvSpPr>
          <p:cNvPr id="8" name="Rounded Rectangle 7"/>
          <p:cNvSpPr/>
          <p:nvPr/>
        </p:nvSpPr>
        <p:spPr>
          <a:xfrm>
            <a:off x="731520" y="3566160"/>
            <a:ext cx="10728655" cy="265176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Formal Project Problem Statement</a:t>
            </a:r>
          </a:p>
          <a:p>
            <a:pPr>
              <a:spcBef>
                <a:spcPts val="300"/>
              </a:spcBef>
              <a:defRPr sz="1000">
                <a:solidFill>
                  <a:srgbClr val="6B7280"/>
                </a:solidFill>
                <a:latin typeface="Calibri"/>
              </a:defRPr>
            </a:pPr>
            <a:r>
              <a:t>Official Formulation for Review 2</a:t>
            </a:r>
          </a:p>
          <a:p>
            <a:pPr>
              <a:spcBef>
                <a:spcPts val="600"/>
              </a:spcBef>
              <a:spcAft>
                <a:spcPts val="1000"/>
              </a:spcAft>
              <a:defRPr sz="1200" i="1">
                <a:solidFill>
                  <a:srgbClr val="111827"/>
                </a:solidFill>
                <a:latin typeface="Calibri"/>
              </a:defRPr>
            </a:pPr>
            <a:r>
              <a:t>“Compiler Design concepts can be difficult for students to understand because the internal transformations performed during compilation are not always visible. SQLens addresses this problem by implementing a lightweight MiniSQL compiler and exposing its query-processing pipeline through an interactive visual interface. It enables learners to inspect tokens, syntax structures, semantic analysis, intermediate representation, optimization, execution, and errors through one integrated workflow.”</a:t>
            </a:r>
          </a:p>
          <a:p>
            <a:pPr>
              <a:spcAft>
                <a:spcPts val="500"/>
              </a:spcAft>
              <a:defRPr sz="1100">
                <a:latin typeface="Calibri"/>
              </a:defRPr>
            </a:pPr>
            <a:r>
              <a:rPr b="1">
                <a:solidFill>
                  <a:srgbClr val="111827"/>
                </a:solidFill>
              </a:rPr>
              <a:t>•  Core Educational Value: </a:t>
            </a:r>
            <a:r>
              <a:rPr b="0">
                <a:solidFill>
                  <a:srgbClr val="374151"/>
                </a:solidFill>
              </a:rPr>
              <a:t>Turns abstract theoretical compiler phases into concrete, observable artifacts.</a:t>
            </a:r>
          </a:p>
          <a:p>
            <a:pPr>
              <a:spcAft>
                <a:spcPts val="500"/>
              </a:spcAft>
              <a:defRPr sz="1100">
                <a:latin typeface="Calibri"/>
              </a:defRPr>
            </a:pPr>
            <a:r>
              <a:rPr b="1">
                <a:solidFill>
                  <a:srgbClr val="111827"/>
                </a:solidFill>
              </a:rPr>
              <a:t>•  Integrated Error Isolation: </a:t>
            </a:r>
            <a:r>
              <a:rPr b="0">
                <a:solidFill>
                  <a:srgbClr val="374151"/>
                </a:solidFill>
              </a:rPr>
              <a:t>Exposes exactly which compilation phase rejects invalid code, reinforcing compiler theory.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OBJECTIVES</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Project Objectives &amp; Scope of Implementation</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4 / 21</a:t>
            </a:r>
          </a:p>
        </p:txBody>
      </p:sp>
      <p:sp>
        <p:nvSpPr>
          <p:cNvPr id="7" name="Rounded Rectangle 6"/>
          <p:cNvSpPr/>
          <p:nvPr/>
        </p:nvSpPr>
        <p:spPr>
          <a:xfrm>
            <a:off x="731520" y="13716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1. Lexical &amp; Syntax Parsing</a:t>
            </a:r>
          </a:p>
          <a:p>
            <a:pPr>
              <a:spcBef>
                <a:spcPts val="300"/>
              </a:spcBef>
              <a:defRPr sz="1000">
                <a:solidFill>
                  <a:srgbClr val="374151"/>
                </a:solidFill>
                <a:latin typeface="Calibri"/>
              </a:defRPr>
            </a:pPr>
            <a:r>
              <a:t>Implement a formal MiniSQL scanner with Flex and an LALR(1) context-free grammar with Bison to parse declarative queries and establish operator precedence.</a:t>
            </a:r>
          </a:p>
        </p:txBody>
      </p:sp>
      <p:sp>
        <p:nvSpPr>
          <p:cNvPr id="8" name="Rounded Rectangle 7"/>
          <p:cNvSpPr/>
          <p:nvPr/>
        </p:nvSpPr>
        <p:spPr>
          <a:xfrm>
            <a:off x="6172200" y="13716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2. AST &amp; Symbol Catalog</a:t>
            </a:r>
          </a:p>
          <a:p>
            <a:pPr>
              <a:spcBef>
                <a:spcPts val="300"/>
              </a:spcBef>
              <a:defRPr sz="1000">
                <a:solidFill>
                  <a:srgbClr val="374151"/>
                </a:solidFill>
                <a:latin typeface="Calibri"/>
              </a:defRPr>
            </a:pPr>
            <a:r>
              <a:t>Construct a strongly-typed Abstract Syntax Tree and maintain an in-memory catalog schema verifying relation names, attribute existence, and column types.</a:t>
            </a:r>
          </a:p>
        </p:txBody>
      </p:sp>
      <p:sp>
        <p:nvSpPr>
          <p:cNvPr id="9" name="Rounded Rectangle 8"/>
          <p:cNvSpPr/>
          <p:nvPr/>
        </p:nvSpPr>
        <p:spPr>
          <a:xfrm>
            <a:off x="731520" y="29718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3. Semantic Validation</a:t>
            </a:r>
          </a:p>
          <a:p>
            <a:pPr>
              <a:spcBef>
                <a:spcPts val="300"/>
              </a:spcBef>
              <a:defRPr sz="1000">
                <a:solidFill>
                  <a:srgbClr val="374151"/>
                </a:solidFill>
                <a:latin typeface="Calibri"/>
              </a:defRPr>
            </a:pPr>
            <a:r>
              <a:t>Implement strict semantic analysis enforcing table resolution, column scoping, operator type-compatibility, and boolean predicate validation.</a:t>
            </a:r>
          </a:p>
        </p:txBody>
      </p:sp>
      <p:sp>
        <p:nvSpPr>
          <p:cNvPr id="10" name="Rounded Rectangle 9"/>
          <p:cNvSpPr/>
          <p:nvPr/>
        </p:nvSpPr>
        <p:spPr>
          <a:xfrm>
            <a:off x="6172200" y="29718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4. Relational Intermediate Code</a:t>
            </a:r>
          </a:p>
          <a:p>
            <a:pPr>
              <a:spcBef>
                <a:spcPts val="300"/>
              </a:spcBef>
              <a:defRPr sz="1000">
                <a:solidFill>
                  <a:srgbClr val="374151"/>
                </a:solidFill>
                <a:latin typeface="Calibri"/>
              </a:defRPr>
            </a:pPr>
            <a:r>
              <a:t>Translate validated ASTs into canonical Relational Algebra Intermediate Representation (IR) trees comprising Scan, Filter, Project, Sort, and Limit operators.</a:t>
            </a:r>
          </a:p>
        </p:txBody>
      </p:sp>
      <p:sp>
        <p:nvSpPr>
          <p:cNvPr id="11" name="Rounded Rectangle 10"/>
          <p:cNvSpPr/>
          <p:nvPr/>
        </p:nvSpPr>
        <p:spPr>
          <a:xfrm>
            <a:off x="731520" y="45720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5. Rule-Based Query Optimization</a:t>
            </a:r>
          </a:p>
          <a:p>
            <a:pPr>
              <a:spcBef>
                <a:spcPts val="300"/>
              </a:spcBef>
              <a:defRPr sz="1000">
                <a:solidFill>
                  <a:srgbClr val="374151"/>
                </a:solidFill>
                <a:latin typeface="Calibri"/>
              </a:defRPr>
            </a:pPr>
            <a:r>
              <a:t>Implement algebraic query transformations including Filter Pushdown, Late Projection (projection reordering), and Limit Early-Stopping.</a:t>
            </a:r>
          </a:p>
        </p:txBody>
      </p:sp>
      <p:sp>
        <p:nvSpPr>
          <p:cNvPr id="12" name="Rounded Rectangle 11"/>
          <p:cNvSpPr/>
          <p:nvPr/>
        </p:nvSpPr>
        <p:spPr>
          <a:xfrm>
            <a:off x="6172200" y="4572000"/>
            <a:ext cx="5257800" cy="14630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6. CSV Execution &amp; Fail-Stop Errors</a:t>
            </a:r>
          </a:p>
          <a:p>
            <a:pPr>
              <a:spcBef>
                <a:spcPts val="300"/>
              </a:spcBef>
              <a:defRPr sz="1000">
                <a:solidFill>
                  <a:srgbClr val="374151"/>
                </a:solidFill>
                <a:latin typeface="Calibri"/>
              </a:defRPr>
            </a:pPr>
            <a:r>
              <a:t>Execute physical relational plans against CSV datasets and enforce fail-stop error isolation to halt execution at the exact stage of failure.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SCOPE &amp; LIMITATIONS</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Scope &amp; Limitations: Supported Syntax vs Out-of-Scope</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5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Supported MiniSQL Language (Verified in Code)</a:t>
            </a:r>
          </a:p>
          <a:p>
            <a:pPr>
              <a:spcBef>
                <a:spcPts val="300"/>
              </a:spcBef>
              <a:defRPr sz="1000">
                <a:solidFill>
                  <a:srgbClr val="6B7280"/>
                </a:solidFill>
                <a:latin typeface="Calibri"/>
              </a:defRPr>
            </a:pPr>
            <a:r>
              <a:t>Current Grammar &amp; Engine Capabilities</a:t>
            </a:r>
          </a:p>
          <a:p>
            <a:pPr>
              <a:spcAft>
                <a:spcPts val="500"/>
              </a:spcAft>
              <a:defRPr sz="1050">
                <a:latin typeface="Calibri"/>
              </a:defRPr>
            </a:pPr>
            <a:r>
              <a:rPr b="1">
                <a:solidFill>
                  <a:srgbClr val="111827"/>
                </a:solidFill>
              </a:rPr>
              <a:t>•  Query Structure: </a:t>
            </a:r>
            <a:r>
              <a:rPr b="0">
                <a:solidFill>
                  <a:srgbClr val="374151"/>
                </a:solidFill>
              </a:rPr>
              <a:t>Declarative SELECT ... FROM ... [WHERE ...] [ORDER BY ...] [LIMIT ...];</a:t>
            </a:r>
          </a:p>
          <a:p>
            <a:pPr>
              <a:spcAft>
                <a:spcPts val="500"/>
              </a:spcAft>
              <a:defRPr sz="1050">
                <a:latin typeface="Calibri"/>
              </a:defRPr>
            </a:pPr>
            <a:r>
              <a:rPr b="1">
                <a:solidFill>
                  <a:srgbClr val="111827"/>
                </a:solidFill>
              </a:rPr>
              <a:t>•  Target Relation: </a:t>
            </a:r>
            <a:r>
              <a:rPr b="0">
                <a:solidFill>
                  <a:srgbClr val="374151"/>
                </a:solidFill>
              </a:rPr>
              <a:t>Single relation catalog over 'students' (id: INT, name: STRING, cgpa: FLOAT, age: INT).</a:t>
            </a:r>
          </a:p>
          <a:p>
            <a:pPr>
              <a:spcAft>
                <a:spcPts val="500"/>
              </a:spcAft>
              <a:defRPr sz="1050">
                <a:latin typeface="Calibri"/>
              </a:defRPr>
            </a:pPr>
            <a:r>
              <a:rPr b="1">
                <a:solidFill>
                  <a:srgbClr val="111827"/>
                </a:solidFill>
              </a:rPr>
              <a:t>•  Attribute Projection: </a:t>
            </a:r>
            <a:r>
              <a:rPr b="0">
                <a:solidFill>
                  <a:srgbClr val="374151"/>
                </a:solidFill>
              </a:rPr>
              <a:t>Single and multi-column projections (e.g., SELECT name, cgpa).</a:t>
            </a:r>
          </a:p>
          <a:p>
            <a:pPr>
              <a:spcAft>
                <a:spcPts val="500"/>
              </a:spcAft>
              <a:defRPr sz="1050">
                <a:latin typeface="Calibri"/>
              </a:defRPr>
            </a:pPr>
            <a:r>
              <a:rPr b="1">
                <a:solidFill>
                  <a:srgbClr val="111827"/>
                </a:solidFill>
              </a:rPr>
              <a:t>•  Comparison Predicates: </a:t>
            </a:r>
            <a:r>
              <a:rPr b="0">
                <a:solidFill>
                  <a:srgbClr val="374151"/>
                </a:solidFill>
              </a:rPr>
              <a:t>Binary comparisons (=, !=, &lt;, &gt;, &lt;=, &gt;=) over numeric, string, and boolean attributes.</a:t>
            </a:r>
          </a:p>
          <a:p>
            <a:pPr>
              <a:spcAft>
                <a:spcPts val="500"/>
              </a:spcAft>
              <a:defRPr sz="1050">
                <a:latin typeface="Calibri"/>
              </a:defRPr>
            </a:pPr>
            <a:r>
              <a:rPr b="1">
                <a:solidFill>
                  <a:srgbClr val="111827"/>
                </a:solidFill>
              </a:rPr>
              <a:t>•  Logical Conjunctions: </a:t>
            </a:r>
            <a:r>
              <a:rPr b="0">
                <a:solidFill>
                  <a:srgbClr val="374151"/>
                </a:solidFill>
              </a:rPr>
              <a:t>Compound boolean expressions combining AND, OR, and parenthesized sub-expressions.</a:t>
            </a:r>
          </a:p>
          <a:p>
            <a:pPr>
              <a:spcAft>
                <a:spcPts val="500"/>
              </a:spcAft>
              <a:defRPr sz="1050">
                <a:latin typeface="Calibri"/>
              </a:defRPr>
            </a:pPr>
            <a:r>
              <a:rPr b="1">
                <a:solidFill>
                  <a:srgbClr val="111827"/>
                </a:solidFill>
              </a:rPr>
              <a:t>•  Sorting Operations: </a:t>
            </a:r>
            <a:r>
              <a:rPr b="0">
                <a:solidFill>
                  <a:srgbClr val="374151"/>
                </a:solidFill>
              </a:rPr>
              <a:t>ORDER BY &lt;column&gt; [ASC | DESC], supporting sorting on unprojected attributes via Late Projection.</a:t>
            </a:r>
          </a:p>
          <a:p>
            <a:pPr>
              <a:spcAft>
                <a:spcPts val="500"/>
              </a:spcAft>
              <a:defRPr sz="1050">
                <a:latin typeface="Calibri"/>
              </a:defRPr>
            </a:pPr>
            <a:r>
              <a:rPr b="1">
                <a:solidFill>
                  <a:srgbClr val="111827"/>
                </a:solidFill>
              </a:rPr>
              <a:t>•  Row Cardinality: </a:t>
            </a:r>
            <a:r>
              <a:rPr b="0">
                <a:solidFill>
                  <a:srgbClr val="374151"/>
                </a:solidFill>
              </a:rPr>
              <a:t>LIMIT &lt;integer&gt; with zero and bound checks.</a:t>
            </a:r>
          </a:p>
          <a:p>
            <a:pPr>
              <a:spcAft>
                <a:spcPts val="500"/>
              </a:spcAft>
              <a:defRPr sz="1050">
                <a:latin typeface="Calibri"/>
              </a:defRPr>
            </a:pPr>
            <a:r>
              <a:rPr b="1">
                <a:solidFill>
                  <a:srgbClr val="111827"/>
                </a:solidFill>
              </a:rPr>
              <a:t>•  Data Source: </a:t>
            </a:r>
            <a:r>
              <a:rPr b="0">
                <a:solidFill>
                  <a:srgbClr val="374151"/>
                </a:solidFill>
              </a:rPr>
              <a:t>CSV streaming storage engine parsing typed comma-separated records.</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Explicitly Out-of-Scope / Phase 3 Planned</a:t>
            </a:r>
          </a:p>
          <a:p>
            <a:pPr>
              <a:spcBef>
                <a:spcPts val="300"/>
              </a:spcBef>
              <a:defRPr sz="1000">
                <a:solidFill>
                  <a:srgbClr val="6B7280"/>
                </a:solidFill>
                <a:latin typeface="Calibri"/>
              </a:defRPr>
            </a:pPr>
            <a:r>
              <a:t>Honest Boundaries of MiniSQL Prototype</a:t>
            </a:r>
          </a:p>
          <a:p>
            <a:pPr>
              <a:spcAft>
                <a:spcPts val="600"/>
              </a:spcAft>
              <a:defRPr sz="1050">
                <a:latin typeface="Calibri"/>
              </a:defRPr>
            </a:pPr>
            <a:r>
              <a:rPr b="1">
                <a:solidFill>
                  <a:srgbClr val="111827"/>
                </a:solidFill>
              </a:rPr>
              <a:t>•  Multi-Table Operations: </a:t>
            </a:r>
            <a:r>
              <a:rPr b="0">
                <a:solidFill>
                  <a:srgbClr val="374151"/>
                </a:solidFill>
              </a:rPr>
              <a:t>Relational joins (INNER JOIN, CROSS JOIN) are intentionally excluded from Phase 2; planned for Phase 3.</a:t>
            </a:r>
          </a:p>
          <a:p>
            <a:pPr>
              <a:spcAft>
                <a:spcPts val="600"/>
              </a:spcAft>
              <a:defRPr sz="1050">
                <a:latin typeface="Calibri"/>
              </a:defRPr>
            </a:pPr>
            <a:r>
              <a:rPr b="1">
                <a:solidFill>
                  <a:srgbClr val="111827"/>
                </a:solidFill>
              </a:rPr>
              <a:t>•  Aggregate Functions: </a:t>
            </a:r>
            <a:r>
              <a:rPr b="0">
                <a:solidFill>
                  <a:srgbClr val="374151"/>
                </a:solidFill>
              </a:rPr>
              <a:t>Functions such as COUNT(), SUM(), AVG(), MIN(), MAX(), and GROUP BY / HAVING clauses are not implemented.</a:t>
            </a:r>
          </a:p>
          <a:p>
            <a:pPr>
              <a:spcAft>
                <a:spcPts val="600"/>
              </a:spcAft>
              <a:defRPr sz="1050">
                <a:latin typeface="Calibri"/>
              </a:defRPr>
            </a:pPr>
            <a:r>
              <a:rPr b="1">
                <a:solidFill>
                  <a:srgbClr val="111827"/>
                </a:solidFill>
              </a:rPr>
              <a:t>•  DML &amp; DDL Statements: </a:t>
            </a:r>
            <a:r>
              <a:rPr b="0">
                <a:solidFill>
                  <a:srgbClr val="374151"/>
                </a:solidFill>
              </a:rPr>
              <a:t>Modifying statements (INSERT, UPDATE, DELETE) and schema creation (CREATE TABLE) are excluded; focus is purely on query compilation.</a:t>
            </a:r>
          </a:p>
          <a:p>
            <a:pPr>
              <a:spcAft>
                <a:spcPts val="600"/>
              </a:spcAft>
              <a:defRPr sz="1050">
                <a:latin typeface="Calibri"/>
              </a:defRPr>
            </a:pPr>
            <a:r>
              <a:rPr b="1">
                <a:solidFill>
                  <a:srgbClr val="111827"/>
                </a:solidFill>
              </a:rPr>
              <a:t>•  Nested Queries: </a:t>
            </a:r>
            <a:r>
              <a:rPr b="0">
                <a:solidFill>
                  <a:srgbClr val="374151"/>
                </a:solidFill>
              </a:rPr>
              <a:t>Correlated and uncorrelated subqueries are out of scope.</a:t>
            </a:r>
          </a:p>
          <a:p>
            <a:pPr>
              <a:spcAft>
                <a:spcPts val="600"/>
              </a:spcAft>
              <a:defRPr sz="1050">
                <a:latin typeface="Calibri"/>
              </a:defRPr>
            </a:pPr>
            <a:r>
              <a:rPr b="1">
                <a:solidFill>
                  <a:srgbClr val="111827"/>
                </a:solidFill>
              </a:rPr>
              <a:t>•  Multi-File Catalogs: </a:t>
            </a:r>
            <a:r>
              <a:rPr b="0">
                <a:solidFill>
                  <a:srgbClr val="374151"/>
                </a:solidFill>
              </a:rPr>
              <a:t>Dynamic schemas across multiple arbitrary CSV files are not supported in the Phase 2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SYSTEM ARCHITECTURE</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Overall System Architecture &amp; Data Flow</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6 / 21</a:t>
            </a:r>
          </a:p>
        </p:txBody>
      </p:sp>
      <p:sp>
        <p:nvSpPr>
          <p:cNvPr id="7" name="Rounded Rectangle 6"/>
          <p:cNvSpPr/>
          <p:nvPr/>
        </p:nvSpPr>
        <p:spPr>
          <a:xfrm>
            <a:off x="731520" y="1371600"/>
            <a:ext cx="329184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1. User &amp; Interface Layer</a:t>
            </a:r>
          </a:p>
          <a:p>
            <a:pPr>
              <a:spcBef>
                <a:spcPts val="300"/>
              </a:spcBef>
              <a:defRPr sz="1000">
                <a:solidFill>
                  <a:srgbClr val="6B7280"/>
                </a:solidFill>
                <a:latin typeface="Calibri"/>
              </a:defRPr>
            </a:pPr>
            <a:r>
              <a:t>Presentation &amp; API Bridge</a:t>
            </a:r>
          </a:p>
          <a:p>
            <a:pPr>
              <a:spcAft>
                <a:spcPts val="700"/>
              </a:spcAft>
              <a:defRPr sz="1050">
                <a:latin typeface="Calibri"/>
              </a:defRPr>
            </a:pPr>
            <a:r>
              <a:rPr b="1">
                <a:solidFill>
                  <a:srgbClr val="111827"/>
                </a:solidFill>
              </a:rPr>
              <a:t>•  Web Workbench: </a:t>
            </a:r>
            <a:r>
              <a:rPr b="0">
                <a:solidFill>
                  <a:srgbClr val="374151"/>
                </a:solidFill>
              </a:rPr>
              <a:t>React 18 + TypeScript + Vite UI running locally on port 5173.</a:t>
            </a:r>
          </a:p>
          <a:p>
            <a:pPr>
              <a:spcAft>
                <a:spcPts val="700"/>
              </a:spcAft>
              <a:defRPr sz="1050">
                <a:latin typeface="Calibri"/>
              </a:defRPr>
            </a:pPr>
            <a:r>
              <a:rPr b="1">
                <a:solidFill>
                  <a:srgbClr val="111827"/>
                </a:solidFill>
              </a:rPr>
              <a:t>•  Interactive Controls: </a:t>
            </a:r>
            <a:r>
              <a:rPr b="0">
                <a:solidFill>
                  <a:srgbClr val="374151"/>
                </a:solidFill>
              </a:rPr>
              <a:t>SQL editor with 9 presets, 10-stage animated pipeline stepper, and AST/IR visualizers.</a:t>
            </a:r>
          </a:p>
          <a:p>
            <a:pPr>
              <a:spcAft>
                <a:spcPts val="700"/>
              </a:spcAft>
              <a:defRPr sz="1050">
                <a:latin typeface="Calibri"/>
              </a:defRPr>
            </a:pPr>
            <a:r>
              <a:rPr b="1">
                <a:solidFill>
                  <a:srgbClr val="111827"/>
                </a:solidFill>
              </a:rPr>
              <a:t>•  API Bridge Server: </a:t>
            </a:r>
            <a:r>
              <a:rPr b="0">
                <a:solidFill>
                  <a:srgbClr val="374151"/>
                </a:solidFill>
              </a:rPr>
              <a:t>Node.js Express server on port 3001 routing /api/compile.</a:t>
            </a:r>
          </a:p>
          <a:p>
            <a:pPr>
              <a:spcAft>
                <a:spcPts val="700"/>
              </a:spcAft>
              <a:defRPr sz="1050">
                <a:latin typeface="Calibri"/>
              </a:defRPr>
            </a:pPr>
            <a:r>
              <a:rPr b="1">
                <a:solidFill>
                  <a:srgbClr val="111827"/>
                </a:solidFill>
              </a:rPr>
              <a:t>•  ChildProcess Invocation: </a:t>
            </a:r>
            <a:r>
              <a:rPr b="0">
                <a:solidFill>
                  <a:srgbClr val="374151"/>
                </a:solidFill>
              </a:rPr>
              <a:t>Backend executes minisql.exe --json '&lt;query&gt;' and captures pure JSON stdout.</a:t>
            </a:r>
          </a:p>
        </p:txBody>
      </p:sp>
      <p:sp>
        <p:nvSpPr>
          <p:cNvPr id="8" name="Rounded Rectangle 7"/>
          <p:cNvSpPr/>
          <p:nvPr/>
        </p:nvSpPr>
        <p:spPr>
          <a:xfrm>
            <a:off x="4251960" y="1371600"/>
            <a:ext cx="393192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2. Core C++ Compiler Pipeline</a:t>
            </a:r>
          </a:p>
          <a:p>
            <a:pPr>
              <a:spcBef>
                <a:spcPts val="300"/>
              </a:spcBef>
              <a:defRPr sz="1000">
                <a:solidFill>
                  <a:srgbClr val="6B7280"/>
                </a:solidFill>
                <a:latin typeface="Calibri"/>
              </a:defRPr>
            </a:pPr>
            <a:r>
              <a:t>10-Stage Compilation Engine</a:t>
            </a:r>
          </a:p>
          <a:p>
            <a:pPr>
              <a:spcAft>
                <a:spcPts val="300"/>
              </a:spcAft>
              <a:defRPr sz="1000">
                <a:latin typeface="Calibri"/>
              </a:defRPr>
            </a:pPr>
            <a:r>
              <a:rPr b="1">
                <a:solidFill>
                  <a:srgbClr val="111827"/>
                </a:solidFill>
              </a:rPr>
              <a:t>•  [01] Source Query: </a:t>
            </a:r>
            <a:r>
              <a:rPr b="0">
                <a:solidFill>
                  <a:srgbClr val="374151"/>
                </a:solidFill>
              </a:rPr>
              <a:t>Raw SQL text validation.</a:t>
            </a:r>
          </a:p>
          <a:p>
            <a:pPr>
              <a:spcAft>
                <a:spcPts val="300"/>
              </a:spcAft>
              <a:defRPr sz="1000">
                <a:latin typeface="Calibri"/>
              </a:defRPr>
            </a:pPr>
            <a:r>
              <a:rPr b="1">
                <a:solidFill>
                  <a:srgbClr val="111827"/>
                </a:solidFill>
              </a:rPr>
              <a:t>•  [02] Lexical Analysis: </a:t>
            </a:r>
            <a:r>
              <a:rPr b="0">
                <a:solidFill>
                  <a:srgbClr val="374151"/>
                </a:solidFill>
              </a:rPr>
              <a:t>Flex scanner (lexer.l) emitting token stream.</a:t>
            </a:r>
          </a:p>
          <a:p>
            <a:pPr>
              <a:spcAft>
                <a:spcPts val="300"/>
              </a:spcAft>
              <a:defRPr sz="1000">
                <a:latin typeface="Calibri"/>
              </a:defRPr>
            </a:pPr>
            <a:r>
              <a:rPr b="1">
                <a:solidFill>
                  <a:srgbClr val="111827"/>
                </a:solidFill>
              </a:rPr>
              <a:t>•  [03] Syntax Analysis: </a:t>
            </a:r>
            <a:r>
              <a:rPr b="0">
                <a:solidFill>
                  <a:srgbClr val="374151"/>
                </a:solidFill>
              </a:rPr>
              <a:t>Bison parser (parser.y) enforcing LALR(1) grammar.</a:t>
            </a:r>
          </a:p>
          <a:p>
            <a:pPr>
              <a:spcAft>
                <a:spcPts val="300"/>
              </a:spcAft>
              <a:defRPr sz="1000">
                <a:latin typeface="Calibri"/>
              </a:defRPr>
            </a:pPr>
            <a:r>
              <a:rPr b="1">
                <a:solidFill>
                  <a:srgbClr val="111827"/>
                </a:solidFill>
              </a:rPr>
              <a:t>•  [04] AST Construction: </a:t>
            </a:r>
            <a:r>
              <a:rPr b="0">
                <a:solidFill>
                  <a:srgbClr val="374151"/>
                </a:solidFill>
              </a:rPr>
              <a:t>Typed C++ AST hierarchy (ast.cpp).</a:t>
            </a:r>
          </a:p>
          <a:p>
            <a:pPr>
              <a:spcAft>
                <a:spcPts val="300"/>
              </a:spcAft>
              <a:defRPr sz="1000">
                <a:latin typeface="Calibri"/>
              </a:defRPr>
            </a:pPr>
            <a:r>
              <a:rPr b="1">
                <a:solidFill>
                  <a:srgbClr val="111827"/>
                </a:solidFill>
              </a:rPr>
              <a:t>•  [05] Symbol Table Lookup: </a:t>
            </a:r>
            <a:r>
              <a:rPr b="0">
                <a:solidFill>
                  <a:srgbClr val="374151"/>
                </a:solidFill>
              </a:rPr>
              <a:t>Schema metadata verification (symbol_table.cpp).</a:t>
            </a:r>
          </a:p>
          <a:p>
            <a:pPr>
              <a:spcAft>
                <a:spcPts val="300"/>
              </a:spcAft>
              <a:defRPr sz="1000">
                <a:latin typeface="Calibri"/>
              </a:defRPr>
            </a:pPr>
            <a:r>
              <a:rPr b="1">
                <a:solidFill>
                  <a:srgbClr val="111827"/>
                </a:solidFill>
              </a:rPr>
              <a:t>•  [06] Semantic Analysis: </a:t>
            </a:r>
            <a:r>
              <a:rPr b="0">
                <a:solidFill>
                  <a:srgbClr val="374151"/>
                </a:solidFill>
              </a:rPr>
              <a:t>Strict type and scoping validation.</a:t>
            </a:r>
          </a:p>
          <a:p>
            <a:pPr>
              <a:spcAft>
                <a:spcPts val="300"/>
              </a:spcAft>
              <a:defRPr sz="1000">
                <a:latin typeface="Calibri"/>
              </a:defRPr>
            </a:pPr>
            <a:r>
              <a:rPr b="1">
                <a:solidFill>
                  <a:srgbClr val="111827"/>
                </a:solidFill>
              </a:rPr>
              <a:t>•  [07] Relational IR: </a:t>
            </a:r>
            <a:r>
              <a:rPr b="0">
                <a:solidFill>
                  <a:srgbClr val="374151"/>
                </a:solidFill>
              </a:rPr>
              <a:t>Canonical algebra operator tree.</a:t>
            </a:r>
          </a:p>
          <a:p>
            <a:pPr>
              <a:spcAft>
                <a:spcPts val="300"/>
              </a:spcAft>
              <a:defRPr sz="1000">
                <a:latin typeface="Calibri"/>
              </a:defRPr>
            </a:pPr>
            <a:r>
              <a:rPr b="1">
                <a:solidFill>
                  <a:srgbClr val="111827"/>
                </a:solidFill>
              </a:rPr>
              <a:t>•  [08] Rule Optimizer: </a:t>
            </a:r>
            <a:r>
              <a:rPr b="0">
                <a:solidFill>
                  <a:srgbClr val="374151"/>
                </a:solidFill>
              </a:rPr>
              <a:t>Filter pushdown &amp; late projection rewrites.</a:t>
            </a:r>
          </a:p>
          <a:p>
            <a:pPr>
              <a:spcAft>
                <a:spcPts val="300"/>
              </a:spcAft>
              <a:defRPr sz="1000">
                <a:latin typeface="Calibri"/>
              </a:defRPr>
            </a:pPr>
            <a:r>
              <a:rPr b="1">
                <a:solidFill>
                  <a:srgbClr val="111827"/>
                </a:solidFill>
              </a:rPr>
              <a:t>•  [09] CSV Execution: </a:t>
            </a:r>
            <a:r>
              <a:rPr b="0">
                <a:solidFill>
                  <a:srgbClr val="374151"/>
                </a:solidFill>
              </a:rPr>
              <a:t>Physical tuple evaluation (executor.cpp).</a:t>
            </a:r>
          </a:p>
          <a:p>
            <a:pPr>
              <a:spcAft>
                <a:spcPts val="300"/>
              </a:spcAft>
              <a:defRPr sz="1000">
                <a:latin typeface="Calibri"/>
              </a:defRPr>
            </a:pPr>
            <a:r>
              <a:rPr b="1">
                <a:solidFill>
                  <a:srgbClr val="111827"/>
                </a:solidFill>
              </a:rPr>
              <a:t>•  [10] Query Result: </a:t>
            </a:r>
            <a:r>
              <a:rPr b="0">
                <a:solidFill>
                  <a:srgbClr val="374151"/>
                </a:solidFill>
              </a:rPr>
              <a:t>Formatted rows with high-res stage timings.</a:t>
            </a:r>
          </a:p>
        </p:txBody>
      </p:sp>
      <p:sp>
        <p:nvSpPr>
          <p:cNvPr id="9" name="Rounded Rectangle 8"/>
          <p:cNvSpPr/>
          <p:nvPr/>
        </p:nvSpPr>
        <p:spPr>
          <a:xfrm>
            <a:off x="8412480" y="1371600"/>
            <a:ext cx="3047695"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3. Storage &amp; Error Flow</a:t>
            </a:r>
          </a:p>
          <a:p>
            <a:pPr>
              <a:spcBef>
                <a:spcPts val="300"/>
              </a:spcBef>
              <a:defRPr sz="1000">
                <a:solidFill>
                  <a:srgbClr val="6B7280"/>
                </a:solidFill>
                <a:latin typeface="Calibri"/>
              </a:defRPr>
            </a:pPr>
            <a:r>
              <a:t>Data Source &amp; Diagnostics</a:t>
            </a:r>
          </a:p>
          <a:p>
            <a:pPr>
              <a:spcAft>
                <a:spcPts val="700"/>
              </a:spcAft>
              <a:defRPr sz="1050">
                <a:latin typeface="Calibri"/>
              </a:defRPr>
            </a:pPr>
            <a:r>
              <a:rPr b="1">
                <a:solidFill>
                  <a:srgbClr val="111827"/>
                </a:solidFill>
              </a:rPr>
              <a:t>•  Storage Source: </a:t>
            </a:r>
            <a:r>
              <a:rPr b="0">
                <a:solidFill>
                  <a:srgbClr val="374151"/>
                </a:solidFill>
              </a:rPr>
              <a:t>data/students.csv containing typed student records.</a:t>
            </a:r>
          </a:p>
          <a:p>
            <a:pPr>
              <a:spcAft>
                <a:spcPts val="700"/>
              </a:spcAft>
              <a:defRPr sz="1050">
                <a:latin typeface="Calibri"/>
              </a:defRPr>
            </a:pPr>
            <a:r>
              <a:rPr b="1">
                <a:solidFill>
                  <a:srgbClr val="111827"/>
                </a:solidFill>
              </a:rPr>
              <a:t>•  In-Memory Evaluation: </a:t>
            </a:r>
            <a:r>
              <a:rPr b="0">
                <a:solidFill>
                  <a:srgbClr val="374151"/>
                </a:solidFill>
              </a:rPr>
              <a:t>Tuples parsed, filtered, sorted, and projected in RAM.</a:t>
            </a:r>
          </a:p>
          <a:p>
            <a:pPr>
              <a:spcAft>
                <a:spcPts val="700"/>
              </a:spcAft>
              <a:defRPr sz="1050">
                <a:latin typeface="Calibri"/>
              </a:defRPr>
            </a:pPr>
            <a:r>
              <a:rPr b="1">
                <a:solidFill>
                  <a:srgbClr val="111827"/>
                </a:solidFill>
              </a:rPr>
              <a:t>•  Strict Fail-Stop Trapping: </a:t>
            </a:r>
            <a:r>
              <a:rPr b="0">
                <a:solidFill>
                  <a:srgbClr val="374151"/>
                </a:solidFill>
              </a:rPr>
              <a:t>If an error occurs at any stage, pipeline halts immediately.</a:t>
            </a:r>
          </a:p>
          <a:p>
            <a:pPr>
              <a:spcAft>
                <a:spcPts val="700"/>
              </a:spcAft>
              <a:defRPr sz="1050">
                <a:latin typeface="Calibri"/>
              </a:defRPr>
            </a:pPr>
            <a:r>
              <a:rPr b="1">
                <a:solidFill>
                  <a:srgbClr val="111827"/>
                </a:solidFill>
              </a:rPr>
              <a:t>•  Structured JSON Output: </a:t>
            </a:r>
            <a:r>
              <a:rPr b="0">
                <a:solidFill>
                  <a:srgbClr val="374151"/>
                </a:solidFill>
              </a:rPr>
              <a:t>Stage timings and diagnostics emitted for UI rendering.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FRONTEND COMPILER</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Frontend Compilation: Lexical &amp; Syntax Analysis</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7 / 21</a:t>
            </a:r>
          </a:p>
        </p:txBody>
      </p:sp>
      <p:sp>
        <p:nvSpPr>
          <p:cNvPr id="7" name="Rounded Rectangle 6"/>
          <p:cNvSpPr/>
          <p:nvPr/>
        </p:nvSpPr>
        <p:spPr>
          <a:xfrm>
            <a:off x="731520" y="1371600"/>
            <a:ext cx="5212080" cy="30175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Lexical Analysis: Flex Scanner (lexer.l)</a:t>
            </a:r>
          </a:p>
          <a:p>
            <a:pPr>
              <a:spcBef>
                <a:spcPts val="300"/>
              </a:spcBef>
              <a:defRPr sz="1000">
                <a:solidFill>
                  <a:srgbClr val="6B7280"/>
                </a:solidFill>
                <a:latin typeface="Calibri"/>
              </a:defRPr>
            </a:pPr>
            <a:r>
              <a:t>Token Identification &amp; Regular Expressions</a:t>
            </a:r>
          </a:p>
          <a:p>
            <a:pPr>
              <a:spcAft>
                <a:spcPts val="600"/>
              </a:spcAft>
              <a:defRPr sz="1050">
                <a:latin typeface="Calibri"/>
              </a:defRPr>
            </a:pPr>
            <a:r>
              <a:rPr b="1">
                <a:solidFill>
                  <a:srgbClr val="111827"/>
                </a:solidFill>
              </a:rPr>
              <a:t>•  DFA Token Recognition: </a:t>
            </a:r>
            <a:r>
              <a:rPr b="0">
                <a:solidFill>
                  <a:srgbClr val="374151"/>
                </a:solidFill>
              </a:rPr>
              <a:t>Uses Flex regular expressions to recognize SQL keywords (SELECT, FROM, WHERE, ORDER, BY, LIMIT), symbols, and literals.</a:t>
            </a:r>
          </a:p>
          <a:p>
            <a:pPr>
              <a:spcAft>
                <a:spcPts val="600"/>
              </a:spcAft>
              <a:defRPr sz="1050">
                <a:latin typeface="Calibri"/>
              </a:defRPr>
            </a:pPr>
            <a:r>
              <a:rPr b="1">
                <a:solidFill>
                  <a:srgbClr val="111827"/>
                </a:solidFill>
              </a:rPr>
              <a:t>•  TokenRecord Structure: </a:t>
            </a:r>
            <a:r>
              <a:rPr b="0">
                <a:solidFill>
                  <a:srgbClr val="374151"/>
                </a:solidFill>
              </a:rPr>
              <a:t>Captures token symbol, raw lexeme, token classification, and line number for every extracted token.</a:t>
            </a:r>
          </a:p>
          <a:p>
            <a:pPr>
              <a:spcAft>
                <a:spcPts val="600"/>
              </a:spcAft>
              <a:defRPr sz="1050">
                <a:latin typeface="Calibri"/>
              </a:defRPr>
            </a:pPr>
            <a:r>
              <a:rPr b="1">
                <a:solidFill>
                  <a:srgbClr val="111827"/>
                </a:solidFill>
              </a:rPr>
              <a:t>•  Lexical Error Trapping: </a:t>
            </a:r>
            <a:r>
              <a:rPr b="0">
                <a:solidFill>
                  <a:srgbClr val="374151"/>
                </a:solidFill>
              </a:rPr>
              <a:t>Catches unrecognized characters (e.g. '@', '$') via fallback rules and triggers fail-stop termination with coordinate details.</a:t>
            </a:r>
          </a:p>
        </p:txBody>
      </p:sp>
      <p:sp>
        <p:nvSpPr>
          <p:cNvPr id="8" name="Rounded Rectangle 7"/>
          <p:cNvSpPr/>
          <p:nvPr/>
        </p:nvSpPr>
        <p:spPr>
          <a:xfrm>
            <a:off x="6217920" y="1371600"/>
            <a:ext cx="5212080" cy="30175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Syntax Analysis: Bison LALR(1) Parser (parser.y)</a:t>
            </a:r>
          </a:p>
          <a:p>
            <a:pPr>
              <a:spcBef>
                <a:spcPts val="300"/>
              </a:spcBef>
              <a:defRPr sz="1000">
                <a:solidFill>
                  <a:srgbClr val="6B7280"/>
                </a:solidFill>
                <a:latin typeface="Calibri"/>
              </a:defRPr>
            </a:pPr>
            <a:r>
              <a:t>Grammar Verification &amp; AST Generation</a:t>
            </a:r>
          </a:p>
          <a:p>
            <a:pPr>
              <a:spcAft>
                <a:spcPts val="600"/>
              </a:spcAft>
              <a:defRPr sz="1050">
                <a:latin typeface="Calibri"/>
              </a:defRPr>
            </a:pPr>
            <a:r>
              <a:rPr b="1">
                <a:solidFill>
                  <a:srgbClr val="111827"/>
                </a:solidFill>
              </a:rPr>
              <a:t>•  LALR(1) Shift-Reduce Engine: </a:t>
            </a:r>
            <a:r>
              <a:rPr b="0">
                <a:solidFill>
                  <a:srgbClr val="374151"/>
                </a:solidFill>
              </a:rPr>
              <a:t>Implements context-free grammar with unambiguous operator precedence (%left OR, %left AND, %left comp_ops).</a:t>
            </a:r>
          </a:p>
          <a:p>
            <a:pPr>
              <a:spcAft>
                <a:spcPts val="600"/>
              </a:spcAft>
              <a:defRPr sz="1050">
                <a:latin typeface="Calibri"/>
              </a:defRPr>
            </a:pPr>
            <a:r>
              <a:rPr b="1">
                <a:solidFill>
                  <a:srgbClr val="111827"/>
                </a:solidFill>
              </a:rPr>
              <a:t>•  Semantic Actions: </a:t>
            </a:r>
            <a:r>
              <a:rPr b="0">
                <a:solidFill>
                  <a:srgbClr val="374151"/>
                </a:solidFill>
              </a:rPr>
              <a:t>Instantiates AST nodes directly during grammar reductions ($$ = new SelectQueryNode(...)).</a:t>
            </a:r>
          </a:p>
          <a:p>
            <a:pPr>
              <a:spcAft>
                <a:spcPts val="600"/>
              </a:spcAft>
              <a:defRPr sz="1050">
                <a:latin typeface="Calibri"/>
              </a:defRPr>
            </a:pPr>
            <a:r>
              <a:rPr b="1">
                <a:solidFill>
                  <a:srgbClr val="111827"/>
                </a:solidFill>
              </a:rPr>
              <a:t>•  Detailed Diagnostics: </a:t>
            </a:r>
            <a:r>
              <a:rPr b="0">
                <a:solidFill>
                  <a:srgbClr val="374151"/>
                </a:solidFill>
              </a:rPr>
              <a:t>Enabled %define parse.error detailed to emit informative syntax errors (e.g., unexpected token, missing identifier).</a:t>
            </a:r>
          </a:p>
        </p:txBody>
      </p:sp>
      <p:sp>
        <p:nvSpPr>
          <p:cNvPr id="9" name="Rounded Rectangle 8"/>
          <p:cNvSpPr/>
          <p:nvPr/>
        </p:nvSpPr>
        <p:spPr>
          <a:xfrm>
            <a:off x="731520" y="4572000"/>
            <a:ext cx="10728655" cy="16459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Real Token Stream Example: SELECT name, cgpa FROM students WHERE cgpa &gt; 8.0;</a:t>
            </a:r>
          </a:p>
          <a:p>
            <a:pPr>
              <a:spcBef>
                <a:spcPts val="300"/>
              </a:spcBef>
              <a:defRPr sz="1000">
                <a:solidFill>
                  <a:srgbClr val="6B7280"/>
                </a:solidFill>
                <a:latin typeface="Calibri"/>
              </a:defRPr>
            </a:pPr>
            <a:r>
              <a:t>Verified Output from lexer.l</a:t>
            </a:r>
          </a:p>
          <a:p>
            <a:pPr>
              <a:spcBef>
                <a:spcPts val="400"/>
              </a:spcBef>
              <a:spcAft>
                <a:spcPts val="400"/>
              </a:spcAft>
              <a:defRPr sz="1000" b="1">
                <a:solidFill>
                  <a:srgbClr val="111827"/>
                </a:solidFill>
                <a:latin typeface="Calibri"/>
              </a:defRPr>
            </a:pPr>
            <a:r>
              <a:t>Emitted Tokens: [SELECT, KEYWORD] → [IDENTIFIER(name)] → [COMMA] → [IDENTIFIER(cgpa)] → [FROM, KEYWORD] → [IDENTIFIER(students)] → [WHERE, KEYWORD] → [IDENTIFIER(cgpa)] → [GREATER, &gt;] → [FLOAT_LITERAL(8.0)] → [SEMICOLON]</a:t>
            </a:r>
          </a:p>
          <a:p>
            <a:pPr>
              <a:defRPr sz="950">
                <a:solidFill>
                  <a:srgbClr val="374151"/>
                </a:solidFill>
                <a:latin typeface="Calibri"/>
              </a:defRPr>
            </a:pPr>
            <a:r>
              <a:t>Every token preserves its original source lexeme and line coordinates, allowing the visualizer to highlight query tokens dynamically during execution.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FRONTEND COMPILER</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Frontend Compilation: AST Hierarchy &amp; Semantic Analysis</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8 / 21</a:t>
            </a:r>
          </a:p>
        </p:txBody>
      </p:sp>
      <p:sp>
        <p:nvSpPr>
          <p:cNvPr id="7" name="Rounded Rectangle 6"/>
          <p:cNvSpPr/>
          <p:nvPr/>
        </p:nvSpPr>
        <p:spPr>
          <a:xfrm>
            <a:off x="731520" y="1371600"/>
            <a:ext cx="5212080" cy="30175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Abstract Syntax Tree (ast.h, ast.cpp)</a:t>
            </a:r>
          </a:p>
          <a:p>
            <a:pPr>
              <a:spcBef>
                <a:spcPts val="300"/>
              </a:spcBef>
              <a:defRPr sz="1000">
                <a:solidFill>
                  <a:srgbClr val="6B7280"/>
                </a:solidFill>
                <a:latin typeface="Calibri"/>
              </a:defRPr>
            </a:pPr>
            <a:r>
              <a:t>Object-Oriented Representation</a:t>
            </a:r>
          </a:p>
          <a:p>
            <a:pPr>
              <a:spcAft>
                <a:spcPts val="600"/>
              </a:spcAft>
              <a:defRPr sz="1050">
                <a:latin typeface="Calibri"/>
              </a:defRPr>
            </a:pPr>
            <a:r>
              <a:rPr b="1">
                <a:solidFill>
                  <a:srgbClr val="111827"/>
                </a:solidFill>
              </a:rPr>
              <a:t>•  Node Hierarchy: </a:t>
            </a:r>
            <a:r>
              <a:rPr b="0">
                <a:solidFill>
                  <a:srgbClr val="374151"/>
                </a:solidFill>
              </a:rPr>
              <a:t>Base ASTNode with derived SelectQueryNode and ExprNode subclasses (BinaryOpNode, ColumnRefNode, LiteralNode).</a:t>
            </a:r>
          </a:p>
          <a:p>
            <a:pPr>
              <a:spcAft>
                <a:spcPts val="600"/>
              </a:spcAft>
              <a:defRPr sz="1050">
                <a:latin typeface="Calibri"/>
              </a:defRPr>
            </a:pPr>
            <a:r>
              <a:rPr b="1">
                <a:solidFill>
                  <a:srgbClr val="111827"/>
                </a:solidFill>
              </a:rPr>
              <a:t>•  AST Decoupling: </a:t>
            </a:r>
            <a:r>
              <a:rPr b="0">
                <a:solidFill>
                  <a:srgbClr val="374151"/>
                </a:solidFill>
              </a:rPr>
              <a:t>Fully isolates semantic query meaning from parser-specific grammar artifacts and punctuation.</a:t>
            </a:r>
          </a:p>
          <a:p>
            <a:pPr>
              <a:spcAft>
                <a:spcPts val="600"/>
              </a:spcAft>
              <a:defRPr sz="1050">
                <a:latin typeface="Calibri"/>
              </a:defRPr>
            </a:pPr>
            <a:r>
              <a:rPr b="1">
                <a:solidFill>
                  <a:srgbClr val="111827"/>
                </a:solidFill>
              </a:rPr>
              <a:t>•  Dual Output Capabilities: </a:t>
            </a:r>
            <a:r>
              <a:rPr b="0">
                <a:solidFill>
                  <a:srgbClr val="374151"/>
                </a:solidFill>
              </a:rPr>
              <a:t>Provides recursive ASCII tree printing for terminal debugging and JSON serialization for web UI rendering.</a:t>
            </a:r>
          </a:p>
        </p:txBody>
      </p:sp>
      <p:sp>
        <p:nvSpPr>
          <p:cNvPr id="8" name="Rounded Rectangle 7"/>
          <p:cNvSpPr/>
          <p:nvPr/>
        </p:nvSpPr>
        <p:spPr>
          <a:xfrm>
            <a:off x="6217920" y="1371600"/>
            <a:ext cx="5212080" cy="30175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Symbol Table &amp; Semantic Analysis</a:t>
            </a:r>
          </a:p>
          <a:p>
            <a:pPr>
              <a:spcBef>
                <a:spcPts val="300"/>
              </a:spcBef>
              <a:defRPr sz="1000">
                <a:solidFill>
                  <a:srgbClr val="6B7280"/>
                </a:solidFill>
                <a:latin typeface="Calibri"/>
              </a:defRPr>
            </a:pPr>
            <a:r>
              <a:t>Catalog Verification &amp; Type Checking</a:t>
            </a:r>
          </a:p>
          <a:p>
            <a:pPr>
              <a:spcAft>
                <a:spcPts val="600"/>
              </a:spcAft>
              <a:defRPr sz="1050">
                <a:latin typeface="Calibri"/>
              </a:defRPr>
            </a:pPr>
            <a:r>
              <a:rPr b="1">
                <a:solidFill>
                  <a:srgbClr val="111827"/>
                </a:solidFill>
              </a:rPr>
              <a:t>•  Catalog Schema: </a:t>
            </a:r>
            <a:r>
              <a:rPr b="0">
                <a:solidFill>
                  <a:srgbClr val="374151"/>
                </a:solidFill>
              </a:rPr>
              <a:t>Maintains schema for relation 'students': id (INT), name (STRING), cgpa (FLOAT), age (INT).</a:t>
            </a:r>
          </a:p>
          <a:p>
            <a:pPr>
              <a:spcAft>
                <a:spcPts val="600"/>
              </a:spcAft>
              <a:defRPr sz="1050">
                <a:latin typeface="Calibri"/>
              </a:defRPr>
            </a:pPr>
            <a:r>
              <a:rPr b="1">
                <a:solidFill>
                  <a:srgbClr val="111827"/>
                </a:solidFill>
              </a:rPr>
              <a:t>•  6-Point Semantic Checklist: </a:t>
            </a:r>
            <a:r>
              <a:rPr b="0">
                <a:solidFill>
                  <a:srgbClr val="374151"/>
                </a:solidFill>
              </a:rPr>
              <a:t>(1) Table existence, (2) SELECT column validation, (3) WHERE column validation, (4) ORDER BY column validation, (5) Operator type compatibility, (6) Boolean predicate check.</a:t>
            </a:r>
          </a:p>
          <a:p>
            <a:pPr>
              <a:spcAft>
                <a:spcPts val="600"/>
              </a:spcAft>
              <a:defRPr sz="1050">
                <a:latin typeface="Calibri"/>
              </a:defRPr>
            </a:pPr>
            <a:r>
              <a:rPr b="1">
                <a:solidFill>
                  <a:srgbClr val="111827"/>
                </a:solidFill>
              </a:rPr>
              <a:t>•  Strict Type Enforcement: </a:t>
            </a:r>
            <a:r>
              <a:rPr b="0">
                <a:solidFill>
                  <a:srgbClr val="374151"/>
                </a:solidFill>
              </a:rPr>
              <a:t>Rejects comparisons between incompatible types (e.g. comparing FLOAT with STRING literal).</a:t>
            </a:r>
          </a:p>
        </p:txBody>
      </p:sp>
      <p:sp>
        <p:nvSpPr>
          <p:cNvPr id="9" name="Rounded Rectangle 8"/>
          <p:cNvSpPr/>
          <p:nvPr/>
        </p:nvSpPr>
        <p:spPr>
          <a:xfrm>
            <a:off x="731520" y="4572000"/>
            <a:ext cx="10728655" cy="16459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Semantic Verification Examples (Verified in Code)</a:t>
            </a:r>
          </a:p>
          <a:p>
            <a:pPr>
              <a:spcBef>
                <a:spcPts val="300"/>
              </a:spcBef>
              <a:defRPr sz="1000">
                <a:solidFill>
                  <a:srgbClr val="6B7280"/>
                </a:solidFill>
                <a:latin typeface="Calibri"/>
              </a:defRPr>
            </a:pPr>
            <a:r>
              <a:t>Catalog Validation Scenarios</a:t>
            </a:r>
          </a:p>
          <a:p>
            <a:pPr>
              <a:spcAft>
                <a:spcPts val="400"/>
              </a:spcAft>
              <a:defRPr sz="1000">
                <a:latin typeface="Calibri"/>
              </a:defRPr>
            </a:pPr>
            <a:r>
              <a:rPr b="1">
                <a:solidFill>
                  <a:srgbClr val="111827"/>
                </a:solidFill>
              </a:rPr>
              <a:t>•  Valid Query Check: </a:t>
            </a:r>
            <a:r>
              <a:rPr b="0">
                <a:solidFill>
                  <a:srgbClr val="374151"/>
                </a:solidFill>
              </a:rPr>
              <a:t>'SELECT name, cgpa FROM students WHERE cgpa &gt; 8.0;' → PASS (table found, columns verified, FLOAT &gt; FLOAT valid).</a:t>
            </a:r>
          </a:p>
          <a:p>
            <a:pPr>
              <a:spcAft>
                <a:spcPts val="400"/>
              </a:spcAft>
              <a:defRPr sz="1000">
                <a:latin typeface="Calibri"/>
              </a:defRPr>
            </a:pPr>
            <a:r>
              <a:rPr b="1">
                <a:solidFill>
                  <a:srgbClr val="111827"/>
                </a:solidFill>
              </a:rPr>
              <a:t>•  Invalid Attribute Error: </a:t>
            </a:r>
            <a:r>
              <a:rPr b="0">
                <a:solidFill>
                  <a:srgbClr val="374151"/>
                </a:solidFill>
              </a:rPr>
              <a:t>'SELECT salary FROM students;' → REJECTED at Stage 06: Column 'salary' does not exist in table 'students'.</a:t>
            </a:r>
          </a:p>
          <a:p>
            <a:pPr>
              <a:spcAft>
                <a:spcPts val="400"/>
              </a:spcAft>
              <a:defRPr sz="1000">
                <a:latin typeface="Calibri"/>
              </a:defRPr>
            </a:pPr>
            <a:r>
              <a:rPr b="1">
                <a:solidFill>
                  <a:srgbClr val="111827"/>
                </a:solidFill>
              </a:rPr>
              <a:t>•  Invalid Type Error: </a:t>
            </a:r>
            <a:r>
              <a:rPr b="0">
                <a:solidFill>
                  <a:srgbClr val="374151"/>
                </a:solidFill>
              </a:rPr>
              <a:t>'SELECT name FROM students WHERE cgpa &gt; 'Alice';' → REJECTED at Stage 06: Type mismatch: cannot compare FLOAT with STRING.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INTERMEDIATE CODE</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Intermediate Representation: Relational Algebra Trees</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9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Why Relational Algebra IR? (ir.h, ir.cpp)</a:t>
            </a:r>
          </a:p>
          <a:p>
            <a:pPr>
              <a:spcBef>
                <a:spcPts val="300"/>
              </a:spcBef>
              <a:defRPr sz="1000">
                <a:solidFill>
                  <a:srgbClr val="6B7280"/>
                </a:solidFill>
                <a:latin typeface="Calibri"/>
              </a:defRPr>
            </a:pPr>
            <a:r>
              <a:t>Abstracting Execution from Surface Syntax</a:t>
            </a:r>
          </a:p>
          <a:p>
            <a:pPr>
              <a:spcAft>
                <a:spcPts val="600"/>
              </a:spcAft>
              <a:defRPr sz="1050">
                <a:latin typeface="Calibri"/>
              </a:defRPr>
            </a:pPr>
            <a:r>
              <a:rPr b="1">
                <a:solidFill>
                  <a:srgbClr val="111827"/>
                </a:solidFill>
              </a:rPr>
              <a:t>•  Separation of Concerns: </a:t>
            </a:r>
            <a:r>
              <a:rPr b="0">
                <a:solidFill>
                  <a:srgbClr val="374151"/>
                </a:solidFill>
              </a:rPr>
              <a:t>AST reflects concrete query syntax; Relational IR translates syntax into formal relational operators independent of execution mechanics.</a:t>
            </a:r>
          </a:p>
          <a:p>
            <a:pPr>
              <a:spcAft>
                <a:spcPts val="600"/>
              </a:spcAft>
              <a:defRPr sz="1050">
                <a:latin typeface="Calibri"/>
              </a:defRPr>
            </a:pPr>
            <a:r>
              <a:rPr b="1">
                <a:solidFill>
                  <a:srgbClr val="111827"/>
                </a:solidFill>
              </a:rPr>
              <a:t>•  Canonical Operator Tree: </a:t>
            </a:r>
            <a:r>
              <a:rPr b="0">
                <a:solidFill>
                  <a:srgbClr val="374151"/>
                </a:solidFill>
              </a:rPr>
              <a:t>Generated systematically from validated ASTs using standard algebraic mapping.</a:t>
            </a:r>
          </a:p>
          <a:p>
            <a:pPr>
              <a:spcAft>
                <a:spcPts val="600"/>
              </a:spcAft>
              <a:defRPr sz="1050">
                <a:latin typeface="Calibri"/>
              </a:defRPr>
            </a:pPr>
            <a:r>
              <a:rPr b="1">
                <a:solidFill>
                  <a:srgbClr val="111827"/>
                </a:solidFill>
              </a:rPr>
              <a:t>•  Optimization Foundation: </a:t>
            </a:r>
            <a:r>
              <a:rPr b="0">
                <a:solidFill>
                  <a:srgbClr val="374151"/>
                </a:solidFill>
              </a:rPr>
              <a:t>Algebraic rewriting rules operate directly on IR nodes, enabling equivalence transformations.</a:t>
            </a:r>
          </a:p>
          <a:p>
            <a:pPr>
              <a:spcAft>
                <a:spcPts val="600"/>
              </a:spcAft>
              <a:defRPr sz="1050">
                <a:latin typeface="Calibri"/>
              </a:defRPr>
            </a:pPr>
            <a:r>
              <a:rPr b="1">
                <a:solidFill>
                  <a:srgbClr val="111827"/>
                </a:solidFill>
              </a:rPr>
              <a:t>•  Implemented Relational IR Nodes: </a:t>
            </a:r>
            <a:r>
              <a:rPr b="0">
                <a:solidFill>
                  <a:srgbClr val="374151"/>
                </a:solidFill>
              </a:rPr>
              <a:t/>
            </a:r>
          </a:p>
          <a:p>
            <a:pPr>
              <a:spcAft>
                <a:spcPts val="600"/>
              </a:spcAft>
              <a:defRPr sz="1050">
                <a:latin typeface="Calibri"/>
              </a:defRPr>
            </a:pPr>
            <a:r>
              <a:rPr b="1">
                <a:solidFill>
                  <a:srgbClr val="111827"/>
                </a:solidFill>
              </a:rPr>
              <a:t>•  • ScanNode: </a:t>
            </a:r>
            <a:r>
              <a:rPr b="0">
                <a:solidFill>
                  <a:srgbClr val="374151"/>
                </a:solidFill>
              </a:rPr>
              <a:t>Reads source relation from CSV storage.</a:t>
            </a:r>
          </a:p>
          <a:p>
            <a:pPr>
              <a:spcAft>
                <a:spcPts val="600"/>
              </a:spcAft>
              <a:defRPr sz="1050">
                <a:latin typeface="Calibri"/>
              </a:defRPr>
            </a:pPr>
            <a:r>
              <a:rPr b="1">
                <a:solidFill>
                  <a:srgbClr val="111827"/>
                </a:solidFill>
              </a:rPr>
              <a:t>•  • FilterNode: </a:t>
            </a:r>
            <a:r>
              <a:rPr b="0">
                <a:solidFill>
                  <a:srgbClr val="374151"/>
                </a:solidFill>
              </a:rPr>
              <a:t>Evaluates selection condition (σ_p) per tuple.</a:t>
            </a:r>
          </a:p>
          <a:p>
            <a:pPr>
              <a:spcAft>
                <a:spcPts val="600"/>
              </a:spcAft>
              <a:defRPr sz="1050">
                <a:latin typeface="Calibri"/>
              </a:defRPr>
            </a:pPr>
            <a:r>
              <a:rPr b="1">
                <a:solidFill>
                  <a:srgbClr val="111827"/>
                </a:solidFill>
              </a:rPr>
              <a:t>•  • SortNode: </a:t>
            </a:r>
            <a:r>
              <a:rPr b="0">
                <a:solidFill>
                  <a:srgbClr val="374151"/>
                </a:solidFill>
              </a:rPr>
              <a:t>Orders tuples by key column (τ) in ASC/DESC order.</a:t>
            </a:r>
          </a:p>
          <a:p>
            <a:pPr>
              <a:spcAft>
                <a:spcPts val="600"/>
              </a:spcAft>
              <a:defRPr sz="1050">
                <a:latin typeface="Calibri"/>
              </a:defRPr>
            </a:pPr>
            <a:r>
              <a:rPr b="1">
                <a:solidFill>
                  <a:srgbClr val="111827"/>
                </a:solidFill>
              </a:rPr>
              <a:t>•  • ProjectNode: </a:t>
            </a:r>
            <a:r>
              <a:rPr b="0">
                <a:solidFill>
                  <a:srgbClr val="374151"/>
                </a:solidFill>
              </a:rPr>
              <a:t>Restricts attributes to requested columns (π_A).</a:t>
            </a:r>
          </a:p>
          <a:p>
            <a:pPr>
              <a:spcAft>
                <a:spcPts val="600"/>
              </a:spcAft>
              <a:defRPr sz="1050">
                <a:latin typeface="Calibri"/>
              </a:defRPr>
            </a:pPr>
            <a:r>
              <a:rPr b="1">
                <a:solidFill>
                  <a:srgbClr val="111827"/>
                </a:solidFill>
              </a:rPr>
              <a:t>•  • LimitNode: </a:t>
            </a:r>
            <a:r>
              <a:rPr b="0">
                <a:solidFill>
                  <a:srgbClr val="374151"/>
                </a:solidFill>
              </a:rPr>
              <a:t>Enforces maximum tuple output cardinality.</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Canonical IR Plan Tree</a:t>
            </a:r>
          </a:p>
          <a:p>
            <a:pPr>
              <a:spcBef>
                <a:spcPts val="300"/>
              </a:spcBef>
              <a:defRPr sz="1000">
                <a:solidFill>
                  <a:srgbClr val="6B7280"/>
                </a:solidFill>
                <a:latin typeface="Calibri"/>
              </a:defRPr>
            </a:pPr>
            <a:r>
              <a:t>Query: SELECT name, cgpa FROM students WHERE cgpa &gt; 8.0 ORDER BY cgpa LIMIT 3;</a:t>
            </a:r>
          </a:p>
          <a:p>
            <a:pPr>
              <a:spcBef>
                <a:spcPts val="400"/>
              </a:spcBef>
              <a:defRPr sz="1100" b="1">
                <a:solidFill>
                  <a:srgbClr val="111827"/>
                </a:solidFill>
                <a:latin typeface="Calibri"/>
              </a:defRPr>
            </a:pPr>
            <a:r>
              <a:t>▼  LIMIT (3)</a:t>
            </a:r>
          </a:p>
          <a:p>
            <a:pPr>
              <a:spcAft>
                <a:spcPts val="400"/>
              </a:spcAft>
              <a:defRPr sz="950">
                <a:solidFill>
                  <a:srgbClr val="374151"/>
                </a:solidFill>
                <a:latin typeface="Calibri"/>
              </a:defRPr>
            </a:pPr>
            <a:r>
              <a:t>    Caps output tuples to at most 3 rows</a:t>
            </a:r>
          </a:p>
          <a:p>
            <a:pPr>
              <a:spcBef>
                <a:spcPts val="400"/>
              </a:spcBef>
              <a:defRPr sz="1100" b="1">
                <a:solidFill>
                  <a:srgbClr val="111827"/>
                </a:solidFill>
                <a:latin typeface="Calibri"/>
              </a:defRPr>
            </a:pPr>
            <a:r>
              <a:t>▼  PROJECT [name, cgpa]</a:t>
            </a:r>
          </a:p>
          <a:p>
            <a:pPr>
              <a:spcAft>
                <a:spcPts val="400"/>
              </a:spcAft>
              <a:defRPr sz="950">
                <a:solidFill>
                  <a:srgbClr val="374151"/>
                </a:solidFill>
                <a:latin typeface="Calibri"/>
              </a:defRPr>
            </a:pPr>
            <a:r>
              <a:t>    Restricts tuple attributes to selected projection columns</a:t>
            </a:r>
          </a:p>
          <a:p>
            <a:pPr>
              <a:spcBef>
                <a:spcPts val="400"/>
              </a:spcBef>
              <a:defRPr sz="1100" b="1">
                <a:solidFill>
                  <a:srgbClr val="111827"/>
                </a:solidFill>
                <a:latin typeface="Calibri"/>
              </a:defRPr>
            </a:pPr>
            <a:r>
              <a:t>▼  SORT [cgpa ASC]</a:t>
            </a:r>
          </a:p>
          <a:p>
            <a:pPr>
              <a:spcAft>
                <a:spcPts val="400"/>
              </a:spcAft>
              <a:defRPr sz="950">
                <a:solidFill>
                  <a:srgbClr val="374151"/>
                </a:solidFill>
                <a:latin typeface="Calibri"/>
              </a:defRPr>
            </a:pPr>
            <a:r>
              <a:t>    Sorts intermediate qualifying tuples in ascending order</a:t>
            </a:r>
          </a:p>
          <a:p>
            <a:pPr>
              <a:spcBef>
                <a:spcPts val="400"/>
              </a:spcBef>
              <a:defRPr sz="1100" b="1">
                <a:solidFill>
                  <a:srgbClr val="111827"/>
                </a:solidFill>
                <a:latin typeface="Calibri"/>
              </a:defRPr>
            </a:pPr>
            <a:r>
              <a:t>▼  FILTER [cgpa &gt; 8.0]</a:t>
            </a:r>
          </a:p>
          <a:p>
            <a:pPr>
              <a:spcAft>
                <a:spcPts val="400"/>
              </a:spcAft>
              <a:defRPr sz="950">
                <a:solidFill>
                  <a:srgbClr val="374151"/>
                </a:solidFill>
                <a:latin typeface="Calibri"/>
              </a:defRPr>
            </a:pPr>
            <a:r>
              <a:t>    Evaluates float comparison predicate per incoming row</a:t>
            </a:r>
          </a:p>
          <a:p>
            <a:pPr>
              <a:spcBef>
                <a:spcPts val="400"/>
              </a:spcBef>
              <a:defRPr sz="1100" b="1">
                <a:solidFill>
                  <a:srgbClr val="111827"/>
                </a:solidFill>
                <a:latin typeface="Calibri"/>
              </a:defRPr>
            </a:pPr>
            <a:r>
              <a:t>▼  SCAN [students]</a:t>
            </a:r>
          </a:p>
          <a:p>
            <a:pPr>
              <a:spcAft>
                <a:spcPts val="400"/>
              </a:spcAft>
              <a:defRPr sz="950">
                <a:solidFill>
                  <a:srgbClr val="374151"/>
                </a:solidFill>
                <a:latin typeface="Calibri"/>
              </a:defRPr>
            </a:pPr>
            <a:r>
              <a:t>    Sequential scan loading base tuples from students.csv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OPTIMIZATION PASSES</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Query Optimization: Rule-Based Algebraic Rewrites</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10 / 21</a:t>
            </a:r>
          </a:p>
        </p:txBody>
      </p:sp>
      <p:sp>
        <p:nvSpPr>
          <p:cNvPr id="7" name="Rounded Rectangle 6"/>
          <p:cNvSpPr/>
          <p:nvPr/>
        </p:nvSpPr>
        <p:spPr>
          <a:xfrm>
            <a:off x="731520" y="1371600"/>
            <a:ext cx="10728655" cy="21031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Implemented Rule-Based Optimizer (optimizer.h, optimizer.cpp)</a:t>
            </a:r>
          </a:p>
          <a:p>
            <a:pPr>
              <a:spcBef>
                <a:spcPts val="300"/>
              </a:spcBef>
              <a:defRPr sz="1000">
                <a:solidFill>
                  <a:srgbClr val="6B7280"/>
                </a:solidFill>
                <a:latin typeface="Calibri"/>
              </a:defRPr>
            </a:pPr>
            <a:r>
              <a:t>Algebraic Transformation Principles</a:t>
            </a:r>
          </a:p>
          <a:p>
            <a:pPr>
              <a:spcAft>
                <a:spcPts val="400"/>
              </a:spcAft>
              <a:defRPr sz="1050">
                <a:latin typeface="Calibri"/>
              </a:defRPr>
            </a:pPr>
            <a:r>
              <a:rPr b="1">
                <a:solidFill>
                  <a:srgbClr val="111827"/>
                </a:solidFill>
              </a:rPr>
              <a:t>•  Rule 1 - Filter Pushdown: </a:t>
            </a:r>
            <a:r>
              <a:rPr b="0">
                <a:solidFill>
                  <a:srgbClr val="374151"/>
                </a:solidFill>
              </a:rPr>
              <a:t>Pushes selection predicates (σ) down directly onto ScanNode to eliminate non-qualifying tuples before expensive operations. If already adjacent to scan, optimizer explicitly flags 'NOT REQUIRED'.</a:t>
            </a:r>
          </a:p>
          <a:p>
            <a:pPr>
              <a:spcAft>
                <a:spcPts val="400"/>
              </a:spcAft>
              <a:defRPr sz="1050">
                <a:latin typeface="Calibri"/>
              </a:defRPr>
            </a:pPr>
            <a:r>
              <a:rPr b="1">
                <a:solidFill>
                  <a:srgbClr val="111827"/>
                </a:solidFill>
              </a:rPr>
              <a:t>•  Rule 2 - Late Projection (Projection Reordering): </a:t>
            </a:r>
            <a:r>
              <a:rPr b="0">
                <a:solidFill>
                  <a:srgbClr val="374151"/>
                </a:solidFill>
              </a:rPr>
              <a:t>In canonical plans, PROJECT occurs before SORT. However, if ORDER BY references a column not in SELECT, early projection strips the sort key, causing query failure. The optimizer pushes PROJECT above SORT to preserve the sort key.</a:t>
            </a:r>
          </a:p>
          <a:p>
            <a:pPr>
              <a:spcAft>
                <a:spcPts val="400"/>
              </a:spcAft>
              <a:defRPr sz="1050">
                <a:latin typeface="Calibri"/>
              </a:defRPr>
            </a:pPr>
            <a:r>
              <a:rPr b="1">
                <a:solidFill>
                  <a:srgbClr val="111827"/>
                </a:solidFill>
              </a:rPr>
              <a:t>•  Rule 3 - Limit Early-Stopping: </a:t>
            </a:r>
            <a:r>
              <a:rPr b="0">
                <a:solidFill>
                  <a:srgbClr val="374151"/>
                </a:solidFill>
              </a:rPr>
              <a:t>When no ORDER BY clause is present, LIMIT is pushed directly into ScanNode, stopping file I/O immediately once N qualifying rows are emitted.</a:t>
            </a:r>
          </a:p>
        </p:txBody>
      </p:sp>
      <p:sp>
        <p:nvSpPr>
          <p:cNvPr id="8" name="Rounded Rectangle 7"/>
          <p:cNvSpPr/>
          <p:nvPr/>
        </p:nvSpPr>
        <p:spPr>
          <a:xfrm>
            <a:off x="731520" y="3657600"/>
            <a:ext cx="5212080" cy="2560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Canonical Plan (Before Rewrite)</a:t>
            </a:r>
          </a:p>
          <a:p>
            <a:pPr>
              <a:spcBef>
                <a:spcPts val="300"/>
              </a:spcBef>
              <a:defRPr sz="1000">
                <a:solidFill>
                  <a:srgbClr val="6B7280"/>
                </a:solidFill>
                <a:latin typeface="Calibri"/>
              </a:defRPr>
            </a:pPr>
            <a:r>
              <a:t>Query: SELECT name, age FROM students WHERE age &gt;= 20 ORDER BY cgpa LIMIT 3;</a:t>
            </a:r>
          </a:p>
          <a:p>
            <a:pPr>
              <a:spcAft>
                <a:spcPts val="300"/>
              </a:spcAft>
              <a:defRPr sz="1050">
                <a:latin typeface="Calibri"/>
              </a:defRPr>
            </a:pPr>
            <a:r>
              <a:rPr>
                <a:solidFill>
                  <a:srgbClr val="374151"/>
                </a:solidFill>
              </a:rPr>
              <a:t>•  LIMIT (3)</a:t>
            </a:r>
          </a:p>
          <a:p>
            <a:pPr>
              <a:spcAft>
                <a:spcPts val="300"/>
              </a:spcAft>
              <a:defRPr sz="1050">
                <a:latin typeface="Calibri"/>
              </a:defRPr>
            </a:pPr>
            <a:r>
              <a:rPr>
                <a:solidFill>
                  <a:srgbClr val="374151"/>
                </a:solidFill>
              </a:rPr>
              <a:t>•  SORT (cgpa ASC)  &lt;-- Sort needs 'cgpa'</a:t>
            </a:r>
          </a:p>
          <a:p>
            <a:pPr>
              <a:spcAft>
                <a:spcPts val="300"/>
              </a:spcAft>
              <a:defRPr sz="1050">
                <a:latin typeface="Calibri"/>
              </a:defRPr>
            </a:pPr>
            <a:r>
              <a:rPr b="1">
                <a:solidFill>
                  <a:srgbClr val="111827"/>
                </a:solidFill>
              </a:rPr>
              <a:t>•  PROJECT [name, age]  &lt;-- Problem: </a:t>
            </a:r>
            <a:r>
              <a:rPr b="0">
                <a:solidFill>
                  <a:srgbClr val="374151"/>
                </a:solidFill>
              </a:rPr>
              <a:t>Strips 'cgpa' here!</a:t>
            </a:r>
          </a:p>
          <a:p>
            <a:pPr>
              <a:spcAft>
                <a:spcPts val="300"/>
              </a:spcAft>
              <a:defRPr sz="1050">
                <a:latin typeface="Calibri"/>
              </a:defRPr>
            </a:pPr>
            <a:r>
              <a:rPr>
                <a:solidFill>
                  <a:srgbClr val="374151"/>
                </a:solidFill>
              </a:rPr>
              <a:t>•  FILTER (age &gt;= 20)</a:t>
            </a:r>
          </a:p>
          <a:p>
            <a:pPr>
              <a:spcAft>
                <a:spcPts val="300"/>
              </a:spcAft>
              <a:defRPr sz="1050">
                <a:latin typeface="Calibri"/>
              </a:defRPr>
            </a:pPr>
            <a:r>
              <a:rPr>
                <a:solidFill>
                  <a:srgbClr val="374151"/>
                </a:solidFill>
              </a:rPr>
              <a:t>•  SCAN (students)</a:t>
            </a:r>
          </a:p>
          <a:p>
            <a:pPr>
              <a:spcAft>
                <a:spcPts val="300"/>
              </a:spcAft>
              <a:defRPr sz="1050">
                <a:latin typeface="Calibri"/>
              </a:defRPr>
            </a:pPr>
            <a:r>
              <a:rPr b="1">
                <a:solidFill>
                  <a:srgbClr val="111827"/>
                </a:solidFill>
              </a:rPr>
              <a:t>•  Status: </a:t>
            </a:r>
            <a:r>
              <a:rPr b="0">
                <a:solidFill>
                  <a:srgbClr val="374151"/>
                </a:solidFill>
              </a:rPr>
              <a:t>Incorrect plan if executed naively without optimization.</a:t>
            </a:r>
          </a:p>
        </p:txBody>
      </p:sp>
      <p:sp>
        <p:nvSpPr>
          <p:cNvPr id="9" name="Rounded Rectangle 8"/>
          <p:cNvSpPr/>
          <p:nvPr/>
        </p:nvSpPr>
        <p:spPr>
          <a:xfrm>
            <a:off x="6217920" y="3657600"/>
            <a:ext cx="5212080" cy="2560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Optimized Plan (After Late Projection)</a:t>
            </a:r>
          </a:p>
          <a:p>
            <a:pPr>
              <a:spcBef>
                <a:spcPts val="300"/>
              </a:spcBef>
              <a:defRPr sz="1000">
                <a:solidFill>
                  <a:srgbClr val="6B7280"/>
                </a:solidFill>
                <a:latin typeface="Calibri"/>
              </a:defRPr>
            </a:pPr>
            <a:r>
              <a:t>Rule Applied: Projection Reordering</a:t>
            </a:r>
          </a:p>
          <a:p>
            <a:pPr>
              <a:spcAft>
                <a:spcPts val="300"/>
              </a:spcAft>
              <a:defRPr sz="1050">
                <a:latin typeface="Calibri"/>
              </a:defRPr>
            </a:pPr>
            <a:r>
              <a:rPr>
                <a:solidFill>
                  <a:srgbClr val="374151"/>
                </a:solidFill>
              </a:rPr>
              <a:t>•  LIMIT (3)</a:t>
            </a:r>
          </a:p>
          <a:p>
            <a:pPr>
              <a:spcAft>
                <a:spcPts val="300"/>
              </a:spcAft>
              <a:defRPr sz="1050">
                <a:latin typeface="Calibri"/>
              </a:defRPr>
            </a:pPr>
            <a:r>
              <a:rPr>
                <a:solidFill>
                  <a:srgbClr val="374151"/>
                </a:solidFill>
              </a:rPr>
              <a:t>•  PROJECT [name, age]  &lt;-- Pushed ABOVE Sort!</a:t>
            </a:r>
          </a:p>
          <a:p>
            <a:pPr>
              <a:spcAft>
                <a:spcPts val="300"/>
              </a:spcAft>
              <a:defRPr sz="1050">
                <a:latin typeface="Calibri"/>
              </a:defRPr>
            </a:pPr>
            <a:r>
              <a:rPr>
                <a:solidFill>
                  <a:srgbClr val="374151"/>
                </a:solidFill>
              </a:rPr>
              <a:t>•  SORT (cgpa ASC)  &lt;-- Retains 'cgpa' key safely!</a:t>
            </a:r>
          </a:p>
          <a:p>
            <a:pPr>
              <a:spcAft>
                <a:spcPts val="300"/>
              </a:spcAft>
              <a:defRPr sz="1050">
                <a:latin typeface="Calibri"/>
              </a:defRPr>
            </a:pPr>
            <a:r>
              <a:rPr>
                <a:solidFill>
                  <a:srgbClr val="374151"/>
                </a:solidFill>
              </a:rPr>
              <a:t>•  FILTER (age &gt;= 20)</a:t>
            </a:r>
          </a:p>
          <a:p>
            <a:pPr>
              <a:spcAft>
                <a:spcPts val="300"/>
              </a:spcAft>
              <a:defRPr sz="1050">
                <a:latin typeface="Calibri"/>
              </a:defRPr>
            </a:pPr>
            <a:r>
              <a:rPr>
                <a:solidFill>
                  <a:srgbClr val="374151"/>
                </a:solidFill>
              </a:rPr>
              <a:t>•  SCAN (students)</a:t>
            </a:r>
          </a:p>
          <a:p>
            <a:pPr>
              <a:spcAft>
                <a:spcPts val="300"/>
              </a:spcAft>
              <a:defRPr sz="1050">
                <a:latin typeface="Calibri"/>
              </a:defRPr>
            </a:pPr>
            <a:r>
              <a:rPr b="1">
                <a:solidFill>
                  <a:srgbClr val="111827"/>
                </a:solidFill>
              </a:rPr>
              <a:t>•  Benefit: </a:t>
            </a:r>
            <a:r>
              <a:rPr b="0">
                <a:solidFill>
                  <a:srgbClr val="374151"/>
                </a:solidFill>
              </a:rPr>
              <a:t>Guarantees relational correctness while keeping tuple width minimal.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PHYSICAL EXECUTION</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Physical Query Execution Engine &amp; CSV Storage</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11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Execution Pipeline (executor.h, executor.cpp)</a:t>
            </a:r>
          </a:p>
          <a:p>
            <a:pPr>
              <a:spcBef>
                <a:spcPts val="300"/>
              </a:spcBef>
              <a:defRPr sz="1000">
                <a:solidFill>
                  <a:srgbClr val="6B7280"/>
                </a:solidFill>
                <a:latin typeface="Calibri"/>
              </a:defRPr>
            </a:pPr>
            <a:r>
              <a:t>In-Memory Streaming CSV Processing</a:t>
            </a:r>
          </a:p>
          <a:p>
            <a:pPr>
              <a:spcAft>
                <a:spcPts val="600"/>
              </a:spcAft>
              <a:defRPr sz="1050">
                <a:latin typeface="Calibri"/>
              </a:defRPr>
            </a:pPr>
            <a:r>
              <a:rPr b="1">
                <a:solidFill>
                  <a:srgbClr val="111827"/>
                </a:solidFill>
              </a:rPr>
              <a:t>•  CSV File Streaming: </a:t>
            </a:r>
            <a:r>
              <a:rPr b="0">
                <a:solidFill>
                  <a:srgbClr val="374151"/>
                </a:solidFill>
              </a:rPr>
              <a:t>Reads data/students.csv row-by-row, validating headers against schema.</a:t>
            </a:r>
          </a:p>
          <a:p>
            <a:pPr>
              <a:spcAft>
                <a:spcPts val="600"/>
              </a:spcAft>
              <a:defRPr sz="1050">
                <a:latin typeface="Calibri"/>
              </a:defRPr>
            </a:pPr>
            <a:r>
              <a:rPr b="1">
                <a:solidFill>
                  <a:srgbClr val="111827"/>
                </a:solidFill>
              </a:rPr>
              <a:t>•  Row Deserialization: </a:t>
            </a:r>
            <a:r>
              <a:rPr b="0">
                <a:solidFill>
                  <a:srgbClr val="374151"/>
                </a:solidFill>
              </a:rPr>
              <a:t>Parses string fields into typed runtime variants (int, float, string).</a:t>
            </a:r>
          </a:p>
          <a:p>
            <a:pPr>
              <a:spcAft>
                <a:spcPts val="600"/>
              </a:spcAft>
              <a:defRPr sz="1050">
                <a:latin typeface="Calibri"/>
              </a:defRPr>
            </a:pPr>
            <a:r>
              <a:rPr b="1">
                <a:solidFill>
                  <a:srgbClr val="111827"/>
                </a:solidFill>
              </a:rPr>
              <a:t>•  Expression Evaluation: </a:t>
            </a:r>
            <a:r>
              <a:rPr b="0">
                <a:solidFill>
                  <a:srgbClr val="374151"/>
                </a:solidFill>
              </a:rPr>
              <a:t>Evaluates boolean AST expressions dynamically for each candidate tuple.</a:t>
            </a:r>
          </a:p>
          <a:p>
            <a:pPr>
              <a:spcAft>
                <a:spcPts val="600"/>
              </a:spcAft>
              <a:defRPr sz="1050">
                <a:latin typeface="Calibri"/>
              </a:defRPr>
            </a:pPr>
            <a:r>
              <a:rPr b="1">
                <a:solidFill>
                  <a:srgbClr val="111827"/>
                </a:solidFill>
              </a:rPr>
              <a:t>•  In-Memory Sorting: </a:t>
            </a:r>
            <a:r>
              <a:rPr b="0">
                <a:solidFill>
                  <a:srgbClr val="374151"/>
                </a:solidFill>
              </a:rPr>
              <a:t>Executes stable quicksort on tuples matching the ORDER BY column and direction.</a:t>
            </a:r>
          </a:p>
          <a:p>
            <a:pPr>
              <a:spcAft>
                <a:spcPts val="600"/>
              </a:spcAft>
              <a:defRPr sz="1050">
                <a:latin typeface="Calibri"/>
              </a:defRPr>
            </a:pPr>
            <a:r>
              <a:rPr b="1">
                <a:solidFill>
                  <a:srgbClr val="111827"/>
                </a:solidFill>
              </a:rPr>
              <a:t>•  Column Projection: </a:t>
            </a:r>
            <a:r>
              <a:rPr b="0">
                <a:solidFill>
                  <a:srgbClr val="374151"/>
                </a:solidFill>
              </a:rPr>
              <a:t>Prunes unwanted columns from qualifying tuples to match the SELECT clause.</a:t>
            </a:r>
          </a:p>
          <a:p>
            <a:pPr>
              <a:spcAft>
                <a:spcPts val="600"/>
              </a:spcAft>
              <a:defRPr sz="1050">
                <a:latin typeface="Calibri"/>
              </a:defRPr>
            </a:pPr>
            <a:r>
              <a:rPr b="1">
                <a:solidFill>
                  <a:srgbClr val="111827"/>
                </a:solidFill>
              </a:rPr>
              <a:t>•  Cardinality Restriction: </a:t>
            </a:r>
            <a:r>
              <a:rPr b="0">
                <a:solidFill>
                  <a:srgbClr val="374151"/>
                </a:solidFill>
              </a:rPr>
              <a:t>Emits up to LIMIT rows and halts execution cleanly.</a:t>
            </a:r>
          </a:p>
          <a:p>
            <a:pPr>
              <a:spcAft>
                <a:spcPts val="600"/>
              </a:spcAft>
              <a:defRPr sz="1050">
                <a:latin typeface="Calibri"/>
              </a:defRPr>
            </a:pPr>
            <a:r>
              <a:rPr b="1">
                <a:solidFill>
                  <a:srgbClr val="111827"/>
                </a:solidFill>
              </a:rPr>
              <a:t>•  High-Resolution Profiling: </a:t>
            </a:r>
            <a:r>
              <a:rPr b="0">
                <a:solidFill>
                  <a:srgbClr val="374151"/>
                </a:solidFill>
              </a:rPr>
              <a:t>Measures nanosecond execution times for each pipeline stage.</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Verified Execution Trace &amp; Result Output</a:t>
            </a:r>
          </a:p>
          <a:p>
            <a:pPr>
              <a:spcBef>
                <a:spcPts val="300"/>
              </a:spcBef>
              <a:defRPr sz="1000">
                <a:solidFill>
                  <a:srgbClr val="6B7280"/>
                </a:solidFill>
                <a:latin typeface="Calibri"/>
              </a:defRPr>
            </a:pPr>
            <a:r>
              <a:t>Query: SELECT name, age FROM students WHERE age &gt;= 20 ORDER BY cgpa LIMIT 3;</a:t>
            </a:r>
          </a:p>
          <a:p>
            <a:pPr>
              <a:spcBef>
                <a:spcPts val="200"/>
              </a:spcBef>
              <a:spcAft>
                <a:spcPts val="400"/>
              </a:spcAft>
              <a:defRPr sz="1100" b="1">
                <a:solidFill>
                  <a:srgbClr val="111827"/>
                </a:solidFill>
                <a:latin typeface="Calibri"/>
              </a:defRPr>
            </a:pPr>
            <a:r>
              <a:t>Step-by-Step Physical Execution Trace:</a:t>
            </a:r>
          </a:p>
          <a:p>
            <a:pPr>
              <a:spcAft>
                <a:spcPts val="300"/>
              </a:spcAft>
              <a:defRPr sz="1000">
                <a:latin typeface="Calibri"/>
              </a:defRPr>
            </a:pPr>
            <a:r>
              <a:rPr>
                <a:solidFill>
                  <a:srgbClr val="374151"/>
                </a:solidFill>
              </a:rPr>
              <a:t>•  SCAN students → 5 base rows loaded from CSV</a:t>
            </a:r>
          </a:p>
          <a:p>
            <a:pPr>
              <a:spcAft>
                <a:spcPts val="300"/>
              </a:spcAft>
              <a:defRPr sz="1000">
                <a:latin typeface="Calibri"/>
              </a:defRPr>
            </a:pPr>
            <a:r>
              <a:rPr>
                <a:solidFill>
                  <a:srgbClr val="374151"/>
                </a:solidFill>
              </a:rPr>
              <a:t>•  FILTER age &gt;= 20 → 3 qualifying rows retained (Alice, Bob, David)</a:t>
            </a:r>
          </a:p>
          <a:p>
            <a:pPr>
              <a:spcAft>
                <a:spcPts val="300"/>
              </a:spcAft>
              <a:defRPr sz="1000">
                <a:latin typeface="Calibri"/>
              </a:defRPr>
            </a:pPr>
            <a:r>
              <a:rPr b="1">
                <a:solidFill>
                  <a:srgbClr val="111827"/>
                </a:solidFill>
              </a:rPr>
              <a:t>•  SORT by cgpa ASC → Ordered: </a:t>
            </a:r>
            <a:r>
              <a:rPr b="0">
                <a:solidFill>
                  <a:srgbClr val="374151"/>
                </a:solidFill>
              </a:rPr>
              <a:t>David (6.9), Bob (7.8), Alice (8.5)</a:t>
            </a:r>
          </a:p>
          <a:p>
            <a:pPr>
              <a:spcAft>
                <a:spcPts val="300"/>
              </a:spcAft>
              <a:defRPr sz="1000">
                <a:latin typeface="Calibri"/>
              </a:defRPr>
            </a:pPr>
            <a:r>
              <a:rPr>
                <a:solidFill>
                  <a:srgbClr val="374151"/>
                </a:solidFill>
              </a:rPr>
              <a:t>•  PROJECT [name, age] → Retained 2 columns per tuple</a:t>
            </a:r>
          </a:p>
          <a:p>
            <a:pPr>
              <a:spcAft>
                <a:spcPts val="300"/>
              </a:spcAft>
              <a:defRPr sz="1000">
                <a:latin typeface="Calibri"/>
              </a:defRPr>
            </a:pPr>
            <a:r>
              <a:rPr>
                <a:solidFill>
                  <a:srgbClr val="374151"/>
                </a:solidFill>
              </a:rPr>
              <a:t>•  LIMIT 3 → Emitted 3 final tuples</a:t>
            </a:r>
          </a:p>
          <a:p>
            <a:pPr>
              <a:spcBef>
                <a:spcPts val="800"/>
              </a:spcBef>
              <a:spcAft>
                <a:spcPts val="400"/>
              </a:spcAft>
              <a:defRPr sz="1100" b="1">
                <a:solidFill>
                  <a:srgbClr val="111827"/>
                </a:solidFill>
                <a:latin typeface="Calibri"/>
              </a:defRPr>
            </a:pPr>
            <a:r>
              <a:t>Result Dataset (Verified from minisql.exe):</a:t>
            </a:r>
          </a:p>
          <a:p>
            <a:pPr>
              <a:spcAft>
                <a:spcPts val="300"/>
              </a:spcAft>
              <a:defRPr sz="1000">
                <a:latin typeface="Calibri"/>
              </a:defRPr>
            </a:pPr>
            <a:r>
              <a:rPr b="1">
                <a:solidFill>
                  <a:srgbClr val="111827"/>
                </a:solidFill>
              </a:rPr>
              <a:t>•  Row 1: </a:t>
            </a:r>
            <a:r>
              <a:rPr b="0">
                <a:solidFill>
                  <a:srgbClr val="374151"/>
                </a:solidFill>
              </a:rPr>
              <a:t>name = 'David', age = 22  (cgpa 6.9)</a:t>
            </a:r>
          </a:p>
          <a:p>
            <a:pPr>
              <a:spcAft>
                <a:spcPts val="300"/>
              </a:spcAft>
              <a:defRPr sz="1000">
                <a:latin typeface="Calibri"/>
              </a:defRPr>
            </a:pPr>
            <a:r>
              <a:rPr b="1">
                <a:solidFill>
                  <a:srgbClr val="111827"/>
                </a:solidFill>
              </a:rPr>
              <a:t>•  Row 2: </a:t>
            </a:r>
            <a:r>
              <a:rPr b="0">
                <a:solidFill>
                  <a:srgbClr val="374151"/>
                </a:solidFill>
              </a:rPr>
              <a:t>name = 'Bob',   age = 21  (cgpa 7.8)</a:t>
            </a:r>
          </a:p>
          <a:p>
            <a:pPr>
              <a:spcAft>
                <a:spcPts val="300"/>
              </a:spcAft>
              <a:defRPr sz="1000">
                <a:latin typeface="Calibri"/>
              </a:defRPr>
            </a:pPr>
            <a:r>
              <a:rPr b="1">
                <a:solidFill>
                  <a:srgbClr val="111827"/>
                </a:solidFill>
              </a:rPr>
              <a:t>•  Row 3: </a:t>
            </a:r>
            <a:r>
              <a:rPr b="0">
                <a:solidFill>
                  <a:srgbClr val="374151"/>
                </a:solidFill>
              </a:rPr>
              <a:t>name = 'Alice', age = 20  (cgpa 8.5)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ERROR ISOLATION</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Stage-Specific Error Handling &amp; Fail-Stop Isolation</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12 / 21</a:t>
            </a:r>
          </a:p>
        </p:txBody>
      </p:sp>
      <p:sp>
        <p:nvSpPr>
          <p:cNvPr id="7" name="Rounded Rectangle 6"/>
          <p:cNvSpPr/>
          <p:nvPr/>
        </p:nvSpPr>
        <p:spPr>
          <a:xfrm>
            <a:off x="731520" y="1371600"/>
            <a:ext cx="10728655" cy="109728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Fail-Stop Diagnostic Architecture</a:t>
            </a:r>
          </a:p>
          <a:p>
            <a:pPr>
              <a:spcBef>
                <a:spcPts val="300"/>
              </a:spcBef>
              <a:defRPr sz="1000">
                <a:solidFill>
                  <a:srgbClr val="6B7280"/>
                </a:solidFill>
                <a:latin typeface="Calibri"/>
              </a:defRPr>
            </a:pPr>
            <a:r>
              <a:t>Strict Compiler Stage Error Isolation</a:t>
            </a:r>
          </a:p>
          <a:p>
            <a:pPr>
              <a:spcAft>
                <a:spcPts val="200"/>
              </a:spcAft>
              <a:defRPr sz="1050">
                <a:latin typeface="Calibri"/>
              </a:defRPr>
            </a:pPr>
            <a:r>
              <a:rPr b="1">
                <a:solidFill>
                  <a:srgbClr val="111827"/>
                </a:solidFill>
              </a:rPr>
              <a:t>•  Core Educational Principle: </a:t>
            </a:r>
            <a:r>
              <a:rPr b="0">
                <a:solidFill>
                  <a:srgbClr val="374151"/>
                </a:solidFill>
              </a:rPr>
              <a:t>Errors are halted at the exact compiler phase where they originate. Subsequent phases are never executed.</a:t>
            </a:r>
          </a:p>
          <a:p>
            <a:pPr>
              <a:spcAft>
                <a:spcPts val="200"/>
              </a:spcAft>
              <a:defRPr sz="1050">
                <a:latin typeface="Calibri"/>
              </a:defRPr>
            </a:pPr>
            <a:r>
              <a:rPr b="1">
                <a:solidFill>
                  <a:srgbClr val="111827"/>
                </a:solidFill>
              </a:rPr>
              <a:t>•  Standardized Error Categories: </a:t>
            </a:r>
            <a:r>
              <a:rPr b="0">
                <a:solidFill>
                  <a:srgbClr val="374151"/>
                </a:solidFill>
              </a:rPr>
              <a:t>Lexical, Syntax, Semantic, Type, and Execution errors are clearly classified with exact source line locations.</a:t>
            </a:r>
          </a:p>
        </p:txBody>
      </p:sp>
      <p:graphicFrame>
        <p:nvGraphicFramePr>
          <p:cNvPr id="8" name="Table 7"/>
          <p:cNvGraphicFramePr>
            <a:graphicFrameLocks noGrp="1"/>
          </p:cNvGraphicFramePr>
          <p:nvPr/>
        </p:nvGraphicFramePr>
        <p:xfrm>
          <a:off x="731520" y="2651760"/>
          <a:ext cx="10728655" cy="3566160"/>
        </p:xfrm>
        <a:graphic>
          <a:graphicData uri="http://schemas.openxmlformats.org/drawingml/2006/table">
            <a:tbl>
              <a:tblPr firstRow="1" bandRow="1">
                <a:tableStyleId>{5C22544A-7EE6-4342-B048-85BDC9FD1C3A}</a:tableStyleId>
              </a:tblPr>
              <a:tblGrid>
                <a:gridCol w="1645920"/>
                <a:gridCol w="1645920"/>
                <a:gridCol w="3291840"/>
                <a:gridCol w="4144975"/>
              </a:tblGrid>
              <a:tr h="594360">
                <a:tc>
                  <a:txBody>
                    <a:bodyPr tIns="73152" bIns="73152"/>
                    <a:lstStyle/>
                    <a:p>
                      <a:pPr>
                        <a:defRPr sz="1050" b="1">
                          <a:solidFill>
                            <a:srgbClr val="111827"/>
                          </a:solidFill>
                          <a:latin typeface="Calibri"/>
                        </a:defRPr>
                      </a:pPr>
                      <a:r>
                        <a:t>Error Category</a:t>
                      </a:r>
                    </a:p>
                  </a:txBody>
                  <a:tcPr>
                    <a:solidFill>
                      <a:srgbClr val="F3F4F6"/>
                    </a:solidFill>
                  </a:tcPr>
                </a:tc>
                <a:tc>
                  <a:txBody>
                    <a:bodyPr tIns="73152" bIns="73152"/>
                    <a:lstStyle/>
                    <a:p>
                      <a:pPr>
                        <a:defRPr sz="1050" b="1">
                          <a:solidFill>
                            <a:srgbClr val="111827"/>
                          </a:solidFill>
                          <a:latin typeface="Calibri"/>
                        </a:defRPr>
                      </a:pPr>
                      <a:r>
                        <a:t>Detecting Stage</a:t>
                      </a:r>
                    </a:p>
                  </a:txBody>
                  <a:tcPr>
                    <a:solidFill>
                      <a:srgbClr val="F3F4F6"/>
                    </a:solidFill>
                  </a:tcPr>
                </a:tc>
                <a:tc>
                  <a:txBody>
                    <a:bodyPr tIns="73152" bIns="73152"/>
                    <a:lstStyle/>
                    <a:p>
                      <a:pPr>
                        <a:defRPr sz="1050" b="1">
                          <a:solidFill>
                            <a:srgbClr val="111827"/>
                          </a:solidFill>
                          <a:latin typeface="Calibri"/>
                        </a:defRPr>
                      </a:pPr>
                      <a:r>
                        <a:t>Sample Input Query</a:t>
                      </a:r>
                    </a:p>
                  </a:txBody>
                  <a:tcPr>
                    <a:solidFill>
                      <a:srgbClr val="F3F4F6"/>
                    </a:solidFill>
                  </a:tcPr>
                </a:tc>
                <a:tc>
                  <a:txBody>
                    <a:bodyPr tIns="73152" bIns="73152"/>
                    <a:lstStyle/>
                    <a:p>
                      <a:pPr>
                        <a:defRPr sz="1050" b="1">
                          <a:solidFill>
                            <a:srgbClr val="111827"/>
                          </a:solidFill>
                          <a:latin typeface="Calibri"/>
                        </a:defRPr>
                      </a:pPr>
                      <a:r>
                        <a:t>Observed Diagnostic Message</a:t>
                      </a:r>
                    </a:p>
                  </a:txBody>
                  <a:tcPr>
                    <a:solidFill>
                      <a:srgbClr val="F3F4F6"/>
                    </a:solidFill>
                  </a:tcPr>
                </a:tc>
              </a:tr>
              <a:tr h="594360">
                <a:tc>
                  <a:txBody>
                    <a:bodyPr tIns="64008" bIns="64008"/>
                    <a:lstStyle/>
                    <a:p>
                      <a:pPr>
                        <a:defRPr sz="1000">
                          <a:solidFill>
                            <a:srgbClr val="374151"/>
                          </a:solidFill>
                          <a:latin typeface="Calibri"/>
                        </a:defRPr>
                      </a:pPr>
                      <a:r>
                        <a:t>Lexical Error</a:t>
                      </a:r>
                    </a:p>
                  </a:txBody>
                  <a:tcPr>
                    <a:solidFill>
                      <a:srgbClr val="FFFFFF"/>
                    </a:solidFill>
                  </a:tcPr>
                </a:tc>
                <a:tc>
                  <a:txBody>
                    <a:bodyPr tIns="64008" bIns="64008"/>
                    <a:lstStyle/>
                    <a:p>
                      <a:pPr>
                        <a:defRPr sz="1000">
                          <a:solidFill>
                            <a:srgbClr val="374151"/>
                          </a:solidFill>
                          <a:latin typeface="Calibri"/>
                        </a:defRPr>
                      </a:pPr>
                      <a:r>
                        <a:t>Stage 02 (Flex)</a:t>
                      </a:r>
                    </a:p>
                  </a:txBody>
                  <a:tcPr>
                    <a:solidFill>
                      <a:srgbClr val="FFFFFF"/>
                    </a:solidFill>
                  </a:tcPr>
                </a:tc>
                <a:tc>
                  <a:txBody>
                    <a:bodyPr tIns="64008" bIns="64008"/>
                    <a:lstStyle/>
                    <a:p>
                      <a:pPr>
                        <a:defRPr sz="1000">
                          <a:solidFill>
                            <a:srgbClr val="374151"/>
                          </a:solidFill>
                          <a:latin typeface="Calibri"/>
                        </a:defRPr>
                      </a:pPr>
                      <a:r>
                        <a:t>SELECT @name FROM students;</a:t>
                      </a:r>
                    </a:p>
                  </a:txBody>
                  <a:tcPr>
                    <a:solidFill>
                      <a:srgbClr val="FFFFFF"/>
                    </a:solidFill>
                  </a:tcPr>
                </a:tc>
                <a:tc>
                  <a:txBody>
                    <a:bodyPr tIns="64008" bIns="64008"/>
                    <a:lstStyle/>
                    <a:p>
                      <a:pPr>
                        <a:defRPr sz="1000">
                          <a:solidFill>
                            <a:srgbClr val="374151"/>
                          </a:solidFill>
                          <a:latin typeface="Calibri"/>
                        </a:defRPr>
                      </a:pPr>
                      <a:r>
                        <a:t>[LEXICAL ERROR] Unrecognized character '@' at line 1, column 8</a:t>
                      </a:r>
                    </a:p>
                  </a:txBody>
                  <a:tcPr>
                    <a:solidFill>
                      <a:srgbClr val="FFFFFF"/>
                    </a:solidFill>
                  </a:tcPr>
                </a:tc>
              </a:tr>
              <a:tr h="594360">
                <a:tc>
                  <a:txBody>
                    <a:bodyPr tIns="64008" bIns="64008"/>
                    <a:lstStyle/>
                    <a:p>
                      <a:pPr>
                        <a:defRPr sz="1000">
                          <a:solidFill>
                            <a:srgbClr val="374151"/>
                          </a:solidFill>
                          <a:latin typeface="Calibri"/>
                        </a:defRPr>
                      </a:pPr>
                      <a:r>
                        <a:t>Syntax Error</a:t>
                      </a:r>
                    </a:p>
                  </a:txBody>
                  <a:tcPr>
                    <a:solidFill>
                      <a:srgbClr val="F9FAFB"/>
                    </a:solidFill>
                  </a:tcPr>
                </a:tc>
                <a:tc>
                  <a:txBody>
                    <a:bodyPr tIns="64008" bIns="64008"/>
                    <a:lstStyle/>
                    <a:p>
                      <a:pPr>
                        <a:defRPr sz="1000">
                          <a:solidFill>
                            <a:srgbClr val="374151"/>
                          </a:solidFill>
                          <a:latin typeface="Calibri"/>
                        </a:defRPr>
                      </a:pPr>
                      <a:r>
                        <a:t>Stage 03 (Bison)</a:t>
                      </a:r>
                    </a:p>
                  </a:txBody>
                  <a:tcPr>
                    <a:solidFill>
                      <a:srgbClr val="F9FAFB"/>
                    </a:solidFill>
                  </a:tcPr>
                </a:tc>
                <a:tc>
                  <a:txBody>
                    <a:bodyPr tIns="64008" bIns="64008"/>
                    <a:lstStyle/>
                    <a:p>
                      <a:pPr>
                        <a:defRPr sz="1000">
                          <a:solidFill>
                            <a:srgbClr val="374151"/>
                          </a:solidFill>
                          <a:latin typeface="Calibri"/>
                        </a:defRPr>
                      </a:pPr>
                      <a:r>
                        <a:t>SELECT FROM students;</a:t>
                      </a:r>
                    </a:p>
                  </a:txBody>
                  <a:tcPr>
                    <a:solidFill>
                      <a:srgbClr val="F9FAFB"/>
                    </a:solidFill>
                  </a:tcPr>
                </a:tc>
                <a:tc>
                  <a:txBody>
                    <a:bodyPr tIns="64008" bIns="64008"/>
                    <a:lstStyle/>
                    <a:p>
                      <a:pPr>
                        <a:defRPr sz="1000">
                          <a:solidFill>
                            <a:srgbClr val="374151"/>
                          </a:solidFill>
                          <a:latin typeface="Calibri"/>
                        </a:defRPr>
                      </a:pPr>
                      <a:r>
                        <a:t>[SYNTAX ERROR] syntax error, unexpected 'FROM', expecting identifier</a:t>
                      </a:r>
                    </a:p>
                  </a:txBody>
                  <a:tcPr>
                    <a:solidFill>
                      <a:srgbClr val="F9FAFB"/>
                    </a:solidFill>
                  </a:tcPr>
                </a:tc>
              </a:tr>
              <a:tr h="594360">
                <a:tc>
                  <a:txBody>
                    <a:bodyPr tIns="64008" bIns="64008"/>
                    <a:lstStyle/>
                    <a:p>
                      <a:pPr>
                        <a:defRPr sz="1000">
                          <a:solidFill>
                            <a:srgbClr val="374151"/>
                          </a:solidFill>
                          <a:latin typeface="Calibri"/>
                        </a:defRPr>
                      </a:pPr>
                      <a:r>
                        <a:t>Semantic Error</a:t>
                      </a:r>
                    </a:p>
                  </a:txBody>
                  <a:tcPr>
                    <a:solidFill>
                      <a:srgbClr val="FFFFFF"/>
                    </a:solidFill>
                  </a:tcPr>
                </a:tc>
                <a:tc>
                  <a:txBody>
                    <a:bodyPr tIns="64008" bIns="64008"/>
                    <a:lstStyle/>
                    <a:p>
                      <a:pPr>
                        <a:defRPr sz="1000">
                          <a:solidFill>
                            <a:srgbClr val="374151"/>
                          </a:solidFill>
                          <a:latin typeface="Calibri"/>
                        </a:defRPr>
                      </a:pPr>
                      <a:r>
                        <a:t>Stage 06 (Semantic)</a:t>
                      </a:r>
                    </a:p>
                  </a:txBody>
                  <a:tcPr>
                    <a:solidFill>
                      <a:srgbClr val="FFFFFF"/>
                    </a:solidFill>
                  </a:tcPr>
                </a:tc>
                <a:tc>
                  <a:txBody>
                    <a:bodyPr tIns="64008" bIns="64008"/>
                    <a:lstStyle/>
                    <a:p>
                      <a:pPr>
                        <a:defRPr sz="1000">
                          <a:solidFill>
                            <a:srgbClr val="374151"/>
                          </a:solidFill>
                          <a:latin typeface="Calibri"/>
                        </a:defRPr>
                      </a:pPr>
                      <a:r>
                        <a:t>SELECT salary FROM students;</a:t>
                      </a:r>
                    </a:p>
                  </a:txBody>
                  <a:tcPr>
                    <a:solidFill>
                      <a:srgbClr val="FFFFFF"/>
                    </a:solidFill>
                  </a:tcPr>
                </a:tc>
                <a:tc>
                  <a:txBody>
                    <a:bodyPr tIns="64008" bIns="64008"/>
                    <a:lstStyle/>
                    <a:p>
                      <a:pPr>
                        <a:defRPr sz="1000">
                          <a:solidFill>
                            <a:srgbClr val="374151"/>
                          </a:solidFill>
                          <a:latin typeface="Calibri"/>
                        </a:defRPr>
                      </a:pPr>
                      <a:r>
                        <a:t>[SEMANTIC ERROR] Column 'salary' does not exist in table 'students'</a:t>
                      </a:r>
                    </a:p>
                  </a:txBody>
                  <a:tcPr>
                    <a:solidFill>
                      <a:srgbClr val="FFFFFF"/>
                    </a:solidFill>
                  </a:tcPr>
                </a:tc>
              </a:tr>
              <a:tr h="594360">
                <a:tc>
                  <a:txBody>
                    <a:bodyPr tIns="64008" bIns="64008"/>
                    <a:lstStyle/>
                    <a:p>
                      <a:pPr>
                        <a:defRPr sz="1000">
                          <a:solidFill>
                            <a:srgbClr val="374151"/>
                          </a:solidFill>
                          <a:latin typeface="Calibri"/>
                        </a:defRPr>
                      </a:pPr>
                      <a:r>
                        <a:t>Type Error</a:t>
                      </a:r>
                    </a:p>
                  </a:txBody>
                  <a:tcPr>
                    <a:solidFill>
                      <a:srgbClr val="F9FAFB"/>
                    </a:solidFill>
                  </a:tcPr>
                </a:tc>
                <a:tc>
                  <a:txBody>
                    <a:bodyPr tIns="64008" bIns="64008"/>
                    <a:lstStyle/>
                    <a:p>
                      <a:pPr>
                        <a:defRPr sz="1000">
                          <a:solidFill>
                            <a:srgbClr val="374151"/>
                          </a:solidFill>
                          <a:latin typeface="Calibri"/>
                        </a:defRPr>
                      </a:pPr>
                      <a:r>
                        <a:t>Stage 06 (Semantic)</a:t>
                      </a:r>
                    </a:p>
                  </a:txBody>
                  <a:tcPr>
                    <a:solidFill>
                      <a:srgbClr val="F9FAFB"/>
                    </a:solidFill>
                  </a:tcPr>
                </a:tc>
                <a:tc>
                  <a:txBody>
                    <a:bodyPr tIns="64008" bIns="64008"/>
                    <a:lstStyle/>
                    <a:p>
                      <a:pPr>
                        <a:defRPr sz="1000">
                          <a:solidFill>
                            <a:srgbClr val="374151"/>
                          </a:solidFill>
                          <a:latin typeface="Calibri"/>
                        </a:defRPr>
                      </a:pPr>
                      <a:r>
                        <a:t>SELECT name FROM students WHERE cgpa &gt; 'Alice';</a:t>
                      </a:r>
                    </a:p>
                  </a:txBody>
                  <a:tcPr>
                    <a:solidFill>
                      <a:srgbClr val="F9FAFB"/>
                    </a:solidFill>
                  </a:tcPr>
                </a:tc>
                <a:tc>
                  <a:txBody>
                    <a:bodyPr tIns="64008" bIns="64008"/>
                    <a:lstStyle/>
                    <a:p>
                      <a:pPr>
                        <a:defRPr sz="1000">
                          <a:solidFill>
                            <a:srgbClr val="374151"/>
                          </a:solidFill>
                          <a:latin typeface="Calibri"/>
                        </a:defRPr>
                      </a:pPr>
                      <a:r>
                        <a:t>[TYPE ERROR] Incompatible types for operator '&gt;': FLOAT and STRING</a:t>
                      </a:r>
                    </a:p>
                  </a:txBody>
                  <a:tcPr>
                    <a:solidFill>
                      <a:srgbClr val="F9FAFB"/>
                    </a:solidFill>
                  </a:tcPr>
                </a:tc>
              </a:tr>
              <a:tr h="594360">
                <a:tc>
                  <a:txBody>
                    <a:bodyPr tIns="64008" bIns="64008"/>
                    <a:lstStyle/>
                    <a:p>
                      <a:pPr>
                        <a:defRPr sz="1000">
                          <a:solidFill>
                            <a:srgbClr val="374151"/>
                          </a:solidFill>
                          <a:latin typeface="Calibri"/>
                        </a:defRPr>
                      </a:pPr>
                      <a:r>
                        <a:t>Execution Error</a:t>
                      </a:r>
                    </a:p>
                  </a:txBody>
                  <a:tcPr>
                    <a:solidFill>
                      <a:srgbClr val="FFFFFF"/>
                    </a:solidFill>
                  </a:tcPr>
                </a:tc>
                <a:tc>
                  <a:txBody>
                    <a:bodyPr tIns="64008" bIns="64008"/>
                    <a:lstStyle/>
                    <a:p>
                      <a:pPr>
                        <a:defRPr sz="1000">
                          <a:solidFill>
                            <a:srgbClr val="374151"/>
                          </a:solidFill>
                          <a:latin typeface="Calibri"/>
                        </a:defRPr>
                      </a:pPr>
                      <a:r>
                        <a:t>Stage 09 (Executor)</a:t>
                      </a:r>
                    </a:p>
                  </a:txBody>
                  <a:tcPr>
                    <a:solidFill>
                      <a:srgbClr val="FFFFFF"/>
                    </a:solidFill>
                  </a:tcPr>
                </a:tc>
                <a:tc>
                  <a:txBody>
                    <a:bodyPr tIns="64008" bIns="64008"/>
                    <a:lstStyle/>
                    <a:p>
                      <a:pPr>
                        <a:defRPr sz="1000">
                          <a:solidFill>
                            <a:srgbClr val="374151"/>
                          </a:solidFill>
                          <a:latin typeface="Calibri"/>
                        </a:defRPr>
                      </a:pPr>
                      <a:r>
                        <a:t>Corrupted CSV or missing file</a:t>
                      </a:r>
                    </a:p>
                  </a:txBody>
                  <a:tcPr>
                    <a:solidFill>
                      <a:srgbClr val="FFFFFF"/>
                    </a:solidFill>
                  </a:tcPr>
                </a:tc>
                <a:tc>
                  <a:txBody>
                    <a:bodyPr tIns="64008" bIns="64008"/>
                    <a:lstStyle/>
                    <a:p>
                      <a:pPr>
                        <a:defRPr sz="1000">
                          <a:solidFill>
                            <a:srgbClr val="374151"/>
                          </a:solidFill>
                          <a:latin typeface="Calibri"/>
                        </a:defRPr>
                      </a:pPr>
                      <a:r>
                        <a:t>[EXECUTION ERROR] CSV file not found or numeric parsing failed</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VISUALIZER INTERFACE</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Interactive Web Visualizer Workbench</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13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Visualizer Architecture &amp; Technical Stack</a:t>
            </a:r>
          </a:p>
          <a:p>
            <a:pPr>
              <a:spcBef>
                <a:spcPts val="300"/>
              </a:spcBef>
              <a:defRPr sz="1000">
                <a:solidFill>
                  <a:srgbClr val="6B7280"/>
                </a:solidFill>
                <a:latin typeface="Calibri"/>
              </a:defRPr>
            </a:pPr>
            <a:r>
              <a:t>Local Development Workbench (Port 5173 / Port 3001)</a:t>
            </a:r>
          </a:p>
          <a:p>
            <a:pPr>
              <a:spcAft>
                <a:spcPts val="700"/>
              </a:spcAft>
              <a:defRPr sz="1050">
                <a:latin typeface="Calibri"/>
              </a:defRPr>
            </a:pPr>
            <a:r>
              <a:rPr b="1">
                <a:solidFill>
                  <a:srgbClr val="111827"/>
                </a:solidFill>
              </a:rPr>
              <a:t>•  Frontend Technology: </a:t>
            </a:r>
            <a:r>
              <a:rPr b="0">
                <a:solidFill>
                  <a:srgbClr val="374151"/>
                </a:solidFill>
              </a:rPr>
              <a:t>React 18, TypeScript, Tailwind CSS, Lucide icons, Vite 5 dev server.</a:t>
            </a:r>
          </a:p>
          <a:p>
            <a:pPr>
              <a:spcAft>
                <a:spcPts val="700"/>
              </a:spcAft>
              <a:defRPr sz="1050">
                <a:latin typeface="Calibri"/>
              </a:defRPr>
            </a:pPr>
            <a:r>
              <a:rPr b="1">
                <a:solidFill>
                  <a:srgbClr val="111827"/>
                </a:solidFill>
              </a:rPr>
              <a:t>•  Backend API Bridge: </a:t>
            </a:r>
            <a:r>
              <a:rPr b="0">
                <a:solidFill>
                  <a:srgbClr val="374151"/>
                </a:solidFill>
              </a:rPr>
              <a:t>Node.js Express server with child_process execution of minisql.exe --json.</a:t>
            </a:r>
          </a:p>
          <a:p>
            <a:pPr>
              <a:spcAft>
                <a:spcPts val="700"/>
              </a:spcAft>
              <a:defRPr sz="1050">
                <a:latin typeface="Calibri"/>
              </a:defRPr>
            </a:pPr>
            <a:r>
              <a:rPr b="1">
                <a:solidFill>
                  <a:srgbClr val="111827"/>
                </a:solidFill>
              </a:rPr>
              <a:t>•  100% Real C++ Execution: </a:t>
            </a:r>
            <a:r>
              <a:rPr b="0">
                <a:solidFill>
                  <a:srgbClr val="374151"/>
                </a:solidFill>
              </a:rPr>
              <a:t>Zero client-side simulated data. All stages reflect authentic C++ compiler JSON output.</a:t>
            </a:r>
          </a:p>
          <a:p>
            <a:pPr>
              <a:spcAft>
                <a:spcPts val="700"/>
              </a:spcAft>
              <a:defRPr sz="1050">
                <a:latin typeface="Calibri"/>
              </a:defRPr>
            </a:pPr>
            <a:r>
              <a:rPr b="1">
                <a:solidFill>
                  <a:srgbClr val="111827"/>
                </a:solidFill>
              </a:rPr>
              <a:t>•  Responsive Local Host: </a:t>
            </a:r>
            <a:r>
              <a:rPr b="0">
                <a:solidFill>
                  <a:srgbClr val="374151"/>
                </a:solidFill>
              </a:rPr>
              <a:t>Runs locally at http://localhost:5173 via reverse proxy to backend at http://localhost:3001.</a:t>
            </a:r>
          </a:p>
          <a:p>
            <a:pPr>
              <a:spcAft>
                <a:spcPts val="700"/>
              </a:spcAft>
              <a:defRPr sz="1050">
                <a:latin typeface="Calibri"/>
              </a:defRPr>
            </a:pPr>
            <a:r>
              <a:rPr b="1">
                <a:solidFill>
                  <a:srgbClr val="111827"/>
                </a:solidFill>
              </a:rPr>
              <a:t>•  Strict Component Separation: </a:t>
            </a:r>
            <a:r>
              <a:rPr b="0">
                <a:solidFill>
                  <a:srgbClr val="374151"/>
                </a:solidFill>
              </a:rPr>
              <a:t>Dedicated React components for Tokens Table, AST Viewer, IR Viewer, Optimization Viewer, and Trace Logs.</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Interactive Classroom &amp; Viva Features</a:t>
            </a:r>
          </a:p>
          <a:p>
            <a:pPr>
              <a:spcBef>
                <a:spcPts val="300"/>
              </a:spcBef>
              <a:defRPr sz="1000">
                <a:solidFill>
                  <a:srgbClr val="6B7280"/>
                </a:solidFill>
                <a:latin typeface="Calibri"/>
              </a:defRPr>
            </a:pPr>
            <a:r>
              <a:t>Educational Inspection Capabilities</a:t>
            </a:r>
          </a:p>
          <a:p>
            <a:pPr>
              <a:spcAft>
                <a:spcPts val="600"/>
              </a:spcAft>
              <a:defRPr sz="1050">
                <a:latin typeface="Calibri"/>
              </a:defRPr>
            </a:pPr>
            <a:r>
              <a:rPr b="1">
                <a:solidFill>
                  <a:srgbClr val="111827"/>
                </a:solidFill>
              </a:rPr>
              <a:t>•  10-Stage Animated Pipeline Stepper: </a:t>
            </a:r>
            <a:r>
              <a:rPr b="0">
                <a:solidFill>
                  <a:srgbClr val="374151"/>
                </a:solidFill>
              </a:rPr>
              <a:t>Provides Play, Pause, Step-Through, Skip, and Reset buttons to observe query compilation progressively.</a:t>
            </a:r>
          </a:p>
          <a:p>
            <a:pPr>
              <a:spcAft>
                <a:spcPts val="600"/>
              </a:spcAft>
              <a:defRPr sz="1050">
                <a:latin typeface="Calibri"/>
              </a:defRPr>
            </a:pPr>
            <a:r>
              <a:rPr b="1">
                <a:solidFill>
                  <a:srgbClr val="111827"/>
                </a:solidFill>
              </a:rPr>
              <a:t>•  Interactive Token Table: </a:t>
            </a:r>
            <a:r>
              <a:rPr b="0">
                <a:solidFill>
                  <a:srgbClr val="374151"/>
                </a:solidFill>
              </a:rPr>
              <a:t>Displays token type badges, source lexemes, and line numbers.</a:t>
            </a:r>
          </a:p>
          <a:p>
            <a:pPr>
              <a:spcAft>
                <a:spcPts val="600"/>
              </a:spcAft>
              <a:defRPr sz="1050">
                <a:latin typeface="Calibri"/>
              </a:defRPr>
            </a:pPr>
            <a:r>
              <a:rPr b="1">
                <a:solidFill>
                  <a:srgbClr val="111827"/>
                </a:solidFill>
              </a:rPr>
              <a:t>•  Collapsible AST Tree: </a:t>
            </a:r>
            <a:r>
              <a:rPr b="0">
                <a:solidFill>
                  <a:srgbClr val="374151"/>
                </a:solidFill>
              </a:rPr>
              <a:t>Tree visualizer expanding SELECT clauses, binary operator expressions, and column references.</a:t>
            </a:r>
          </a:p>
          <a:p>
            <a:pPr>
              <a:spcAft>
                <a:spcPts val="600"/>
              </a:spcAft>
              <a:defRPr sz="1050">
                <a:latin typeface="Calibri"/>
              </a:defRPr>
            </a:pPr>
            <a:r>
              <a:rPr b="1">
                <a:solidFill>
                  <a:srgbClr val="111827"/>
                </a:solidFill>
              </a:rPr>
              <a:t>•  Side-by-Side IR Comparison: </a:t>
            </a:r>
            <a:r>
              <a:rPr b="0">
                <a:solidFill>
                  <a:srgbClr val="374151"/>
                </a:solidFill>
              </a:rPr>
              <a:t>Direct visual diff between Canonical IR and Optimized Plan with rule explanation badges.</a:t>
            </a:r>
          </a:p>
          <a:p>
            <a:pPr>
              <a:spcAft>
                <a:spcPts val="600"/>
              </a:spcAft>
              <a:defRPr sz="1050">
                <a:latin typeface="Calibri"/>
              </a:defRPr>
            </a:pPr>
            <a:r>
              <a:rPr b="1">
                <a:solidFill>
                  <a:srgbClr val="111827"/>
                </a:solidFill>
              </a:rPr>
              <a:t>•  Live Execution Trace &amp; Results Table: </a:t>
            </a:r>
            <a:r>
              <a:rPr b="0">
                <a:solidFill>
                  <a:srgbClr val="374151"/>
                </a:solidFill>
              </a:rPr>
              <a:t>Dynamic tabular rendering of CSV output with row counts and stage timings.</a:t>
            </a:r>
          </a:p>
          <a:p>
            <a:pPr>
              <a:spcAft>
                <a:spcPts val="600"/>
              </a:spcAft>
              <a:defRPr sz="1050">
                <a:latin typeface="Calibri"/>
              </a:defRPr>
            </a:pPr>
            <a:r>
              <a:rPr b="1">
                <a:solidFill>
                  <a:srgbClr val="111827"/>
                </a:solidFill>
              </a:rPr>
              <a:t>•  Built-in Viva &amp; Theory Guide Modal: </a:t>
            </a:r>
            <a:r>
              <a:rPr b="0">
                <a:solidFill>
                  <a:srgbClr val="374151"/>
                </a:solidFill>
              </a:rPr>
              <a:t>On-demand reference modal providing compiler theory questions and answers for oral examination.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TESTING &amp; VERIFICATION</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Automated Testing &amp; Experimental Validation</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14 / 21</a:t>
            </a:r>
          </a:p>
        </p:txBody>
      </p:sp>
      <p:sp>
        <p:nvSpPr>
          <p:cNvPr id="7" name="Rounded Rectangle 6"/>
          <p:cNvSpPr/>
          <p:nvPr/>
        </p:nvSpPr>
        <p:spPr>
          <a:xfrm>
            <a:off x="731520" y="1371600"/>
            <a:ext cx="10728655" cy="100584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Automated Test Suite Summary (run_tests.ps1)</a:t>
            </a:r>
          </a:p>
          <a:p>
            <a:pPr>
              <a:spcBef>
                <a:spcPts val="300"/>
              </a:spcBef>
              <a:defRPr sz="1000">
                <a:solidFill>
                  <a:srgbClr val="6B7280"/>
                </a:solidFill>
                <a:latin typeface="Calibri"/>
              </a:defRPr>
            </a:pPr>
            <a:r>
              <a:t>26 Tests Executed Against minisql.exe — 100% Success Rate</a:t>
            </a:r>
          </a:p>
          <a:p>
            <a:pPr>
              <a:spcAft>
                <a:spcPts val="200"/>
              </a:spcAft>
              <a:defRPr sz="1050">
                <a:latin typeface="Calibri"/>
              </a:defRPr>
            </a:pPr>
            <a:r>
              <a:rPr b="1">
                <a:solidFill>
                  <a:srgbClr val="111827"/>
                </a:solidFill>
              </a:rPr>
              <a:t>•  Systematic Test Harness: </a:t>
            </a:r>
            <a:r>
              <a:rPr b="0">
                <a:solidFill>
                  <a:srgbClr val="374151"/>
                </a:solidFill>
              </a:rPr>
              <a:t>Automated PowerShell test script executing all test queries against minisql.exe.</a:t>
            </a:r>
          </a:p>
          <a:p>
            <a:pPr>
              <a:spcAft>
                <a:spcPts val="200"/>
              </a:spcAft>
              <a:defRPr sz="1050">
                <a:latin typeface="Calibri"/>
              </a:defRPr>
            </a:pPr>
            <a:r>
              <a:rPr b="1">
                <a:solidFill>
                  <a:srgbClr val="111827"/>
                </a:solidFill>
              </a:rPr>
              <a:t>•  Coverage Scope: </a:t>
            </a:r>
            <a:r>
              <a:rPr b="0">
                <a:solidFill>
                  <a:srgbClr val="374151"/>
                </a:solidFill>
              </a:rPr>
              <a:t>Valid projections, float/int comparisons, boolean logic, ordering, limits, boundary cases, error isolation, and JSON bridge output.</a:t>
            </a:r>
          </a:p>
        </p:txBody>
      </p:sp>
      <p:graphicFrame>
        <p:nvGraphicFramePr>
          <p:cNvPr id="8" name="Table 7"/>
          <p:cNvGraphicFramePr>
            <a:graphicFrameLocks noGrp="1"/>
          </p:cNvGraphicFramePr>
          <p:nvPr/>
        </p:nvGraphicFramePr>
        <p:xfrm>
          <a:off x="731520" y="2514600"/>
          <a:ext cx="10728655" cy="3749039"/>
        </p:xfrm>
        <a:graphic>
          <a:graphicData uri="http://schemas.openxmlformats.org/drawingml/2006/table">
            <a:tbl>
              <a:tblPr firstRow="1" bandRow="1">
                <a:tableStyleId>{5C22544A-7EE6-4342-B048-85BDC9FD1C3A}</a:tableStyleId>
              </a:tblPr>
              <a:tblGrid>
                <a:gridCol w="1645920"/>
                <a:gridCol w="1005840"/>
                <a:gridCol w="3291840"/>
                <a:gridCol w="3870655"/>
                <a:gridCol w="914400"/>
              </a:tblGrid>
              <a:tr h="416559">
                <a:tc>
                  <a:txBody>
                    <a:bodyPr tIns="73152" bIns="73152"/>
                    <a:lstStyle/>
                    <a:p>
                      <a:pPr>
                        <a:defRPr sz="1050" b="1">
                          <a:solidFill>
                            <a:srgbClr val="111827"/>
                          </a:solidFill>
                          <a:latin typeface="Calibri"/>
                        </a:defRPr>
                      </a:pPr>
                      <a:r>
                        <a:t>Category</a:t>
                      </a:r>
                    </a:p>
                  </a:txBody>
                  <a:tcPr>
                    <a:solidFill>
                      <a:srgbClr val="F3F4F6"/>
                    </a:solidFill>
                  </a:tcPr>
                </a:tc>
                <a:tc>
                  <a:txBody>
                    <a:bodyPr tIns="73152" bIns="73152"/>
                    <a:lstStyle/>
                    <a:p>
                      <a:pPr>
                        <a:defRPr sz="1050" b="1">
                          <a:solidFill>
                            <a:srgbClr val="111827"/>
                          </a:solidFill>
                          <a:latin typeface="Calibri"/>
                        </a:defRPr>
                      </a:pPr>
                      <a:r>
                        <a:t>Test IDs</a:t>
                      </a:r>
                    </a:p>
                  </a:txBody>
                  <a:tcPr>
                    <a:solidFill>
                      <a:srgbClr val="F3F4F6"/>
                    </a:solidFill>
                  </a:tcPr>
                </a:tc>
                <a:tc>
                  <a:txBody>
                    <a:bodyPr tIns="73152" bIns="73152"/>
                    <a:lstStyle/>
                    <a:p>
                      <a:pPr>
                        <a:defRPr sz="1050" b="1">
                          <a:solidFill>
                            <a:srgbClr val="111827"/>
                          </a:solidFill>
                          <a:latin typeface="Calibri"/>
                        </a:defRPr>
                      </a:pPr>
                      <a:r>
                        <a:t>Scenario Description</a:t>
                      </a:r>
                    </a:p>
                  </a:txBody>
                  <a:tcPr>
                    <a:solidFill>
                      <a:srgbClr val="F3F4F6"/>
                    </a:solidFill>
                  </a:tcPr>
                </a:tc>
                <a:tc>
                  <a:txBody>
                    <a:bodyPr tIns="73152" bIns="73152"/>
                    <a:lstStyle/>
                    <a:p>
                      <a:pPr>
                        <a:defRPr sz="1050" b="1">
                          <a:solidFill>
                            <a:srgbClr val="111827"/>
                          </a:solidFill>
                          <a:latin typeface="Calibri"/>
                        </a:defRPr>
                      </a:pPr>
                      <a:r>
                        <a:t>Expected Behavior</a:t>
                      </a:r>
                    </a:p>
                  </a:txBody>
                  <a:tcPr>
                    <a:solidFill>
                      <a:srgbClr val="F3F4F6"/>
                    </a:solidFill>
                  </a:tcPr>
                </a:tc>
                <a:tc>
                  <a:txBody>
                    <a:bodyPr tIns="73152" bIns="73152"/>
                    <a:lstStyle/>
                    <a:p>
                      <a:pPr>
                        <a:defRPr sz="1050" b="1">
                          <a:solidFill>
                            <a:srgbClr val="111827"/>
                          </a:solidFill>
                          <a:latin typeface="Calibri"/>
                        </a:defRPr>
                      </a:pPr>
                      <a:r>
                        <a:t>Status</a:t>
                      </a:r>
                    </a:p>
                  </a:txBody>
                  <a:tcPr>
                    <a:solidFill>
                      <a:srgbClr val="F3F4F6"/>
                    </a:solidFill>
                  </a:tcPr>
                </a:tc>
              </a:tr>
              <a:tr h="416559">
                <a:tc>
                  <a:txBody>
                    <a:bodyPr tIns="64008" bIns="64008"/>
                    <a:lstStyle/>
                    <a:p>
                      <a:pPr>
                        <a:defRPr sz="1000">
                          <a:solidFill>
                            <a:srgbClr val="374151"/>
                          </a:solidFill>
                          <a:latin typeface="Calibri"/>
                        </a:defRPr>
                      </a:pPr>
                      <a:r>
                        <a:t>Valid Projections</a:t>
                      </a:r>
                    </a:p>
                  </a:txBody>
                  <a:tcPr>
                    <a:solidFill>
                      <a:srgbClr val="FFFFFF"/>
                    </a:solidFill>
                  </a:tcPr>
                </a:tc>
                <a:tc>
                  <a:txBody>
                    <a:bodyPr tIns="64008" bIns="64008"/>
                    <a:lstStyle/>
                    <a:p>
                      <a:pPr>
                        <a:defRPr sz="1000">
                          <a:solidFill>
                            <a:srgbClr val="374151"/>
                          </a:solidFill>
                          <a:latin typeface="Calibri"/>
                        </a:defRPr>
                      </a:pPr>
                      <a:r>
                        <a:t>T01, T02</a:t>
                      </a:r>
                    </a:p>
                  </a:txBody>
                  <a:tcPr>
                    <a:solidFill>
                      <a:srgbClr val="FFFFFF"/>
                    </a:solidFill>
                  </a:tcPr>
                </a:tc>
                <a:tc>
                  <a:txBody>
                    <a:bodyPr tIns="64008" bIns="64008"/>
                    <a:lstStyle/>
                    <a:p>
                      <a:pPr>
                        <a:defRPr sz="1000">
                          <a:solidFill>
                            <a:srgbClr val="374151"/>
                          </a:solidFill>
                          <a:latin typeface="Calibri"/>
                        </a:defRPr>
                      </a:pPr>
                      <a:r>
                        <a:t>Single &amp; multi-column selection</a:t>
                      </a:r>
                    </a:p>
                  </a:txBody>
                  <a:tcPr>
                    <a:solidFill>
                      <a:srgbClr val="FFFFFF"/>
                    </a:solidFill>
                  </a:tcPr>
                </a:tc>
                <a:tc>
                  <a:txBody>
                    <a:bodyPr tIns="64008" bIns="64008"/>
                    <a:lstStyle/>
                    <a:p>
                      <a:pPr>
                        <a:defRPr sz="1000">
                          <a:solidFill>
                            <a:srgbClr val="374151"/>
                          </a:solidFill>
                          <a:latin typeface="Calibri"/>
                        </a:defRPr>
                      </a:pPr>
                      <a:r>
                        <a:t>Extracts requested columns cleanly</a:t>
                      </a:r>
                    </a:p>
                  </a:txBody>
                  <a:tcPr>
                    <a:solidFill>
                      <a:srgbClr val="FFFFFF"/>
                    </a:solidFill>
                  </a:tcPr>
                </a:tc>
                <a:tc>
                  <a:txBody>
                    <a:bodyPr tIns="64008" bIns="64008"/>
                    <a:lstStyle/>
                    <a:p>
                      <a:pPr>
                        <a:defRPr sz="1000">
                          <a:solidFill>
                            <a:srgbClr val="374151"/>
                          </a:solidFill>
                          <a:latin typeface="Calibri"/>
                        </a:defRPr>
                      </a:pPr>
                      <a:r>
                        <a:t>PASS</a:t>
                      </a:r>
                    </a:p>
                  </a:txBody>
                  <a:tcPr>
                    <a:solidFill>
                      <a:srgbClr val="FFFFFF"/>
                    </a:solidFill>
                  </a:tcPr>
                </a:tc>
              </a:tr>
              <a:tr h="416559">
                <a:tc>
                  <a:txBody>
                    <a:bodyPr tIns="64008" bIns="64008"/>
                    <a:lstStyle/>
                    <a:p>
                      <a:pPr>
                        <a:defRPr sz="1000">
                          <a:solidFill>
                            <a:srgbClr val="374151"/>
                          </a:solidFill>
                          <a:latin typeface="Calibri"/>
                        </a:defRPr>
                      </a:pPr>
                      <a:r>
                        <a:t>Predicate Filters</a:t>
                      </a:r>
                    </a:p>
                  </a:txBody>
                  <a:tcPr>
                    <a:solidFill>
                      <a:srgbClr val="F9FAFB"/>
                    </a:solidFill>
                  </a:tcPr>
                </a:tc>
                <a:tc>
                  <a:txBody>
                    <a:bodyPr tIns="64008" bIns="64008"/>
                    <a:lstStyle/>
                    <a:p>
                      <a:pPr>
                        <a:defRPr sz="1000">
                          <a:solidFill>
                            <a:srgbClr val="374151"/>
                          </a:solidFill>
                          <a:latin typeface="Calibri"/>
                        </a:defRPr>
                      </a:pPr>
                      <a:r>
                        <a:t>T03, T04</a:t>
                      </a:r>
                    </a:p>
                  </a:txBody>
                  <a:tcPr>
                    <a:solidFill>
                      <a:srgbClr val="F9FAFB"/>
                    </a:solidFill>
                  </a:tcPr>
                </a:tc>
                <a:tc>
                  <a:txBody>
                    <a:bodyPr tIns="64008" bIns="64008"/>
                    <a:lstStyle/>
                    <a:p>
                      <a:pPr>
                        <a:defRPr sz="1000">
                          <a:solidFill>
                            <a:srgbClr val="374151"/>
                          </a:solidFill>
                          <a:latin typeface="Calibri"/>
                        </a:defRPr>
                      </a:pPr>
                      <a:r>
                        <a:t>Float (cgpa &gt; 8.0) &amp; Int (age &gt;= 20)</a:t>
                      </a:r>
                    </a:p>
                  </a:txBody>
                  <a:tcPr>
                    <a:solidFill>
                      <a:srgbClr val="F9FAFB"/>
                    </a:solidFill>
                  </a:tcPr>
                </a:tc>
                <a:tc>
                  <a:txBody>
                    <a:bodyPr tIns="64008" bIns="64008"/>
                    <a:lstStyle/>
                    <a:p>
                      <a:pPr>
                        <a:defRPr sz="1000">
                          <a:solidFill>
                            <a:srgbClr val="374151"/>
                          </a:solidFill>
                          <a:latin typeface="Calibri"/>
                        </a:defRPr>
                      </a:pPr>
                      <a:r>
                        <a:t>Filters tuples matching condition</a:t>
                      </a:r>
                    </a:p>
                  </a:txBody>
                  <a:tcPr>
                    <a:solidFill>
                      <a:srgbClr val="F9FAFB"/>
                    </a:solidFill>
                  </a:tcPr>
                </a:tc>
                <a:tc>
                  <a:txBody>
                    <a:bodyPr tIns="64008" bIns="64008"/>
                    <a:lstStyle/>
                    <a:p>
                      <a:pPr>
                        <a:defRPr sz="1000">
                          <a:solidFill>
                            <a:srgbClr val="374151"/>
                          </a:solidFill>
                          <a:latin typeface="Calibri"/>
                        </a:defRPr>
                      </a:pPr>
                      <a:r>
                        <a:t>PASS</a:t>
                      </a:r>
                    </a:p>
                  </a:txBody>
                  <a:tcPr>
                    <a:solidFill>
                      <a:srgbClr val="F9FAFB"/>
                    </a:solidFill>
                  </a:tcPr>
                </a:tc>
              </a:tr>
              <a:tr h="416559">
                <a:tc>
                  <a:txBody>
                    <a:bodyPr tIns="64008" bIns="64008"/>
                    <a:lstStyle/>
                    <a:p>
                      <a:pPr>
                        <a:defRPr sz="1000">
                          <a:solidFill>
                            <a:srgbClr val="374151"/>
                          </a:solidFill>
                          <a:latin typeface="Calibri"/>
                        </a:defRPr>
                      </a:pPr>
                      <a:r>
                        <a:t>Logical Operators</a:t>
                      </a:r>
                    </a:p>
                  </a:txBody>
                  <a:tcPr>
                    <a:solidFill>
                      <a:srgbClr val="FFFFFF"/>
                    </a:solidFill>
                  </a:tcPr>
                </a:tc>
                <a:tc>
                  <a:txBody>
                    <a:bodyPr tIns="64008" bIns="64008"/>
                    <a:lstStyle/>
                    <a:p>
                      <a:pPr>
                        <a:defRPr sz="1000">
                          <a:solidFill>
                            <a:srgbClr val="374151"/>
                          </a:solidFill>
                          <a:latin typeface="Calibri"/>
                        </a:defRPr>
                      </a:pPr>
                      <a:r>
                        <a:t>T05, T06</a:t>
                      </a:r>
                    </a:p>
                  </a:txBody>
                  <a:tcPr>
                    <a:solidFill>
                      <a:srgbClr val="FFFFFF"/>
                    </a:solidFill>
                  </a:tcPr>
                </a:tc>
                <a:tc>
                  <a:txBody>
                    <a:bodyPr tIns="64008" bIns="64008"/>
                    <a:lstStyle/>
                    <a:p>
                      <a:pPr>
                        <a:defRPr sz="1000">
                          <a:solidFill>
                            <a:srgbClr val="374151"/>
                          </a:solidFill>
                          <a:latin typeface="Calibri"/>
                        </a:defRPr>
                      </a:pPr>
                      <a:r>
                        <a:t>Boolean AND / OR conjunctions</a:t>
                      </a:r>
                    </a:p>
                  </a:txBody>
                  <a:tcPr>
                    <a:solidFill>
                      <a:srgbClr val="FFFFFF"/>
                    </a:solidFill>
                  </a:tcPr>
                </a:tc>
                <a:tc>
                  <a:txBody>
                    <a:bodyPr tIns="64008" bIns="64008"/>
                    <a:lstStyle/>
                    <a:p>
                      <a:pPr>
                        <a:defRPr sz="1000">
                          <a:solidFill>
                            <a:srgbClr val="374151"/>
                          </a:solidFill>
                          <a:latin typeface="Calibri"/>
                        </a:defRPr>
                      </a:pPr>
                      <a:r>
                        <a:t>Evaluates compound predicates</a:t>
                      </a:r>
                    </a:p>
                  </a:txBody>
                  <a:tcPr>
                    <a:solidFill>
                      <a:srgbClr val="FFFFFF"/>
                    </a:solidFill>
                  </a:tcPr>
                </a:tc>
                <a:tc>
                  <a:txBody>
                    <a:bodyPr tIns="64008" bIns="64008"/>
                    <a:lstStyle/>
                    <a:p>
                      <a:pPr>
                        <a:defRPr sz="1000">
                          <a:solidFill>
                            <a:srgbClr val="374151"/>
                          </a:solidFill>
                          <a:latin typeface="Calibri"/>
                        </a:defRPr>
                      </a:pPr>
                      <a:r>
                        <a:t>PASS</a:t>
                      </a:r>
                    </a:p>
                  </a:txBody>
                  <a:tcPr>
                    <a:solidFill>
                      <a:srgbClr val="FFFFFF"/>
                    </a:solidFill>
                  </a:tcPr>
                </a:tc>
              </a:tr>
              <a:tr h="416559">
                <a:tc>
                  <a:txBody>
                    <a:bodyPr tIns="64008" bIns="64008"/>
                    <a:lstStyle/>
                    <a:p>
                      <a:pPr>
                        <a:defRPr sz="1000">
                          <a:solidFill>
                            <a:srgbClr val="374151"/>
                          </a:solidFill>
                          <a:latin typeface="Calibri"/>
                        </a:defRPr>
                      </a:pPr>
                      <a:r>
                        <a:t>Ordering &amp; Limits</a:t>
                      </a:r>
                    </a:p>
                  </a:txBody>
                  <a:tcPr>
                    <a:solidFill>
                      <a:srgbClr val="F9FAFB"/>
                    </a:solidFill>
                  </a:tcPr>
                </a:tc>
                <a:tc>
                  <a:txBody>
                    <a:bodyPr tIns="64008" bIns="64008"/>
                    <a:lstStyle/>
                    <a:p>
                      <a:pPr>
                        <a:defRPr sz="1000">
                          <a:solidFill>
                            <a:srgbClr val="374151"/>
                          </a:solidFill>
                          <a:latin typeface="Calibri"/>
                        </a:defRPr>
                      </a:pPr>
                      <a:r>
                        <a:t>T07, T08, T09</a:t>
                      </a:r>
                    </a:p>
                  </a:txBody>
                  <a:tcPr>
                    <a:solidFill>
                      <a:srgbClr val="F9FAFB"/>
                    </a:solidFill>
                  </a:tcPr>
                </a:tc>
                <a:tc>
                  <a:txBody>
                    <a:bodyPr tIns="64008" bIns="64008"/>
                    <a:lstStyle/>
                    <a:p>
                      <a:pPr>
                        <a:defRPr sz="1000">
                          <a:solidFill>
                            <a:srgbClr val="374151"/>
                          </a:solidFill>
                          <a:latin typeface="Calibri"/>
                        </a:defRPr>
                      </a:pPr>
                      <a:r>
                        <a:t>ORDER BY, LIMIT, and combined</a:t>
                      </a:r>
                    </a:p>
                  </a:txBody>
                  <a:tcPr>
                    <a:solidFill>
                      <a:srgbClr val="F9FAFB"/>
                    </a:solidFill>
                  </a:tcPr>
                </a:tc>
                <a:tc>
                  <a:txBody>
                    <a:bodyPr tIns="64008" bIns="64008"/>
                    <a:lstStyle/>
                    <a:p>
                      <a:pPr>
                        <a:defRPr sz="1000">
                          <a:solidFill>
                            <a:srgbClr val="374151"/>
                          </a:solidFill>
                          <a:latin typeface="Calibri"/>
                        </a:defRPr>
                      </a:pPr>
                      <a:r>
                        <a:t>Sorts tuples &amp; caps row count</a:t>
                      </a:r>
                    </a:p>
                  </a:txBody>
                  <a:tcPr>
                    <a:solidFill>
                      <a:srgbClr val="F9FAFB"/>
                    </a:solidFill>
                  </a:tcPr>
                </a:tc>
                <a:tc>
                  <a:txBody>
                    <a:bodyPr tIns="64008" bIns="64008"/>
                    <a:lstStyle/>
                    <a:p>
                      <a:pPr>
                        <a:defRPr sz="1000">
                          <a:solidFill>
                            <a:srgbClr val="374151"/>
                          </a:solidFill>
                          <a:latin typeface="Calibri"/>
                        </a:defRPr>
                      </a:pPr>
                      <a:r>
                        <a:t>PASS</a:t>
                      </a:r>
                    </a:p>
                  </a:txBody>
                  <a:tcPr>
                    <a:solidFill>
                      <a:srgbClr val="F9FAFB"/>
                    </a:solidFill>
                  </a:tcPr>
                </a:tc>
              </a:tr>
              <a:tr h="416559">
                <a:tc>
                  <a:txBody>
                    <a:bodyPr tIns="64008" bIns="64008"/>
                    <a:lstStyle/>
                    <a:p>
                      <a:pPr>
                        <a:defRPr sz="1000">
                          <a:solidFill>
                            <a:srgbClr val="374151"/>
                          </a:solidFill>
                          <a:latin typeface="Calibri"/>
                        </a:defRPr>
                      </a:pPr>
                      <a:r>
                        <a:t>Late Projection</a:t>
                      </a:r>
                    </a:p>
                  </a:txBody>
                  <a:tcPr>
                    <a:solidFill>
                      <a:srgbClr val="FFFFFF"/>
                    </a:solidFill>
                  </a:tcPr>
                </a:tc>
                <a:tc>
                  <a:txBody>
                    <a:bodyPr tIns="64008" bIns="64008"/>
                    <a:lstStyle/>
                    <a:p>
                      <a:pPr>
                        <a:defRPr sz="1000">
                          <a:solidFill>
                            <a:srgbClr val="374151"/>
                          </a:solidFill>
                          <a:latin typeface="Calibri"/>
                        </a:defRPr>
                      </a:pPr>
                      <a:r>
                        <a:t>T10, T11</a:t>
                      </a:r>
                    </a:p>
                  </a:txBody>
                  <a:tcPr>
                    <a:solidFill>
                      <a:srgbClr val="FFFFFF"/>
                    </a:solidFill>
                  </a:tcPr>
                </a:tc>
                <a:tc>
                  <a:txBody>
                    <a:bodyPr tIns="64008" bIns="64008"/>
                    <a:lstStyle/>
                    <a:p>
                      <a:pPr>
                        <a:defRPr sz="1000">
                          <a:solidFill>
                            <a:srgbClr val="374151"/>
                          </a:solidFill>
                          <a:latin typeface="Calibri"/>
                        </a:defRPr>
                      </a:pPr>
                      <a:r>
                        <a:t>ORDER BY on unselected column</a:t>
                      </a:r>
                    </a:p>
                  </a:txBody>
                  <a:tcPr>
                    <a:solidFill>
                      <a:srgbClr val="FFFFFF"/>
                    </a:solidFill>
                  </a:tcPr>
                </a:tc>
                <a:tc>
                  <a:txBody>
                    <a:bodyPr tIns="64008" bIns="64008"/>
                    <a:lstStyle/>
                    <a:p>
                      <a:pPr>
                        <a:defRPr sz="1000">
                          <a:solidFill>
                            <a:srgbClr val="374151"/>
                          </a:solidFill>
                          <a:latin typeface="Calibri"/>
                        </a:defRPr>
                      </a:pPr>
                      <a:r>
                        <a:t>Optimizer reorders projection above sort</a:t>
                      </a:r>
                    </a:p>
                  </a:txBody>
                  <a:tcPr>
                    <a:solidFill>
                      <a:srgbClr val="FFFFFF"/>
                    </a:solidFill>
                  </a:tcPr>
                </a:tc>
                <a:tc>
                  <a:txBody>
                    <a:bodyPr tIns="64008" bIns="64008"/>
                    <a:lstStyle/>
                    <a:p>
                      <a:pPr>
                        <a:defRPr sz="1000">
                          <a:solidFill>
                            <a:srgbClr val="374151"/>
                          </a:solidFill>
                          <a:latin typeface="Calibri"/>
                        </a:defRPr>
                      </a:pPr>
                      <a:r>
                        <a:t>PASS</a:t>
                      </a:r>
                    </a:p>
                  </a:txBody>
                  <a:tcPr>
                    <a:solidFill>
                      <a:srgbClr val="FFFFFF"/>
                    </a:solidFill>
                  </a:tcPr>
                </a:tc>
              </a:tr>
              <a:tr h="416559">
                <a:tc>
                  <a:txBody>
                    <a:bodyPr tIns="64008" bIns="64008"/>
                    <a:lstStyle/>
                    <a:p>
                      <a:pPr>
                        <a:defRPr sz="1000">
                          <a:solidFill>
                            <a:srgbClr val="374151"/>
                          </a:solidFill>
                          <a:latin typeface="Calibri"/>
                        </a:defRPr>
                      </a:pPr>
                      <a:r>
                        <a:t>Boundary Cases</a:t>
                      </a:r>
                    </a:p>
                  </a:txBody>
                  <a:tcPr>
                    <a:solidFill>
                      <a:srgbClr val="F9FAFB"/>
                    </a:solidFill>
                  </a:tcPr>
                </a:tc>
                <a:tc>
                  <a:txBody>
                    <a:bodyPr tIns="64008" bIns="64008"/>
                    <a:lstStyle/>
                    <a:p>
                      <a:pPr>
                        <a:defRPr sz="1000">
                          <a:solidFill>
                            <a:srgbClr val="374151"/>
                          </a:solidFill>
                          <a:latin typeface="Calibri"/>
                        </a:defRPr>
                      </a:pPr>
                      <a:r>
                        <a:t>T12, T13, T14</a:t>
                      </a:r>
                    </a:p>
                  </a:txBody>
                  <a:tcPr>
                    <a:solidFill>
                      <a:srgbClr val="F9FAFB"/>
                    </a:solidFill>
                  </a:tcPr>
                </a:tc>
                <a:tc>
                  <a:txBody>
                    <a:bodyPr tIns="64008" bIns="64008"/>
                    <a:lstStyle/>
                    <a:p>
                      <a:pPr>
                        <a:defRPr sz="1000">
                          <a:solidFill>
                            <a:srgbClr val="374151"/>
                          </a:solidFill>
                          <a:latin typeface="Calibri"/>
                        </a:defRPr>
                      </a:pPr>
                      <a:r>
                        <a:t>LIMIT 0, LIMIT &gt; rows, LIMIT w/o sort</a:t>
                      </a:r>
                    </a:p>
                  </a:txBody>
                  <a:tcPr>
                    <a:solidFill>
                      <a:srgbClr val="F9FAFB"/>
                    </a:solidFill>
                  </a:tcPr>
                </a:tc>
                <a:tc>
                  <a:txBody>
                    <a:bodyPr tIns="64008" bIns="64008"/>
                    <a:lstStyle/>
                    <a:p>
                      <a:pPr>
                        <a:defRPr sz="1000">
                          <a:solidFill>
                            <a:srgbClr val="374151"/>
                          </a:solidFill>
                          <a:latin typeface="Calibri"/>
                        </a:defRPr>
                      </a:pPr>
                      <a:r>
                        <a:t>Safe early termination</a:t>
                      </a:r>
                    </a:p>
                  </a:txBody>
                  <a:tcPr>
                    <a:solidFill>
                      <a:srgbClr val="F9FAFB"/>
                    </a:solidFill>
                  </a:tcPr>
                </a:tc>
                <a:tc>
                  <a:txBody>
                    <a:bodyPr tIns="64008" bIns="64008"/>
                    <a:lstStyle/>
                    <a:p>
                      <a:pPr>
                        <a:defRPr sz="1000">
                          <a:solidFill>
                            <a:srgbClr val="374151"/>
                          </a:solidFill>
                          <a:latin typeface="Calibri"/>
                        </a:defRPr>
                      </a:pPr>
                      <a:r>
                        <a:t>PASS</a:t>
                      </a:r>
                    </a:p>
                  </a:txBody>
                  <a:tcPr>
                    <a:solidFill>
                      <a:srgbClr val="F9FAFB"/>
                    </a:solidFill>
                  </a:tcPr>
                </a:tc>
              </a:tr>
              <a:tr h="416559">
                <a:tc>
                  <a:txBody>
                    <a:bodyPr tIns="64008" bIns="64008"/>
                    <a:lstStyle/>
                    <a:p>
                      <a:pPr>
                        <a:defRPr sz="1000">
                          <a:solidFill>
                            <a:srgbClr val="374151"/>
                          </a:solidFill>
                          <a:latin typeface="Calibri"/>
                        </a:defRPr>
                      </a:pPr>
                      <a:r>
                        <a:t>Error Isolation</a:t>
                      </a:r>
                    </a:p>
                  </a:txBody>
                  <a:tcPr>
                    <a:solidFill>
                      <a:srgbClr val="FFFFFF"/>
                    </a:solidFill>
                  </a:tcPr>
                </a:tc>
                <a:tc>
                  <a:txBody>
                    <a:bodyPr tIns="64008" bIns="64008"/>
                    <a:lstStyle/>
                    <a:p>
                      <a:pPr>
                        <a:defRPr sz="1000">
                          <a:solidFill>
                            <a:srgbClr val="374151"/>
                          </a:solidFill>
                          <a:latin typeface="Calibri"/>
                        </a:defRPr>
                      </a:pPr>
                      <a:r>
                        <a:t>T17–T22</a:t>
                      </a:r>
                    </a:p>
                  </a:txBody>
                  <a:tcPr>
                    <a:solidFill>
                      <a:srgbClr val="FFFFFF"/>
                    </a:solidFill>
                  </a:tcPr>
                </a:tc>
                <a:tc>
                  <a:txBody>
                    <a:bodyPr tIns="64008" bIns="64008"/>
                    <a:lstStyle/>
                    <a:p>
                      <a:pPr>
                        <a:defRPr sz="1000">
                          <a:solidFill>
                            <a:srgbClr val="374151"/>
                          </a:solidFill>
                          <a:latin typeface="Calibri"/>
                        </a:defRPr>
                      </a:pPr>
                      <a:r>
                        <a:t>Lexical, Syntax, Semantic, Type errors</a:t>
                      </a:r>
                    </a:p>
                  </a:txBody>
                  <a:tcPr>
                    <a:solidFill>
                      <a:srgbClr val="FFFFFF"/>
                    </a:solidFill>
                  </a:tcPr>
                </a:tc>
                <a:tc>
                  <a:txBody>
                    <a:bodyPr tIns="64008" bIns="64008"/>
                    <a:lstStyle/>
                    <a:p>
                      <a:pPr>
                        <a:defRPr sz="1000">
                          <a:solidFill>
                            <a:srgbClr val="374151"/>
                          </a:solidFill>
                          <a:latin typeface="Calibri"/>
                        </a:defRPr>
                      </a:pPr>
                      <a:r>
                        <a:t>Halts at exact originating stage</a:t>
                      </a:r>
                    </a:p>
                  </a:txBody>
                  <a:tcPr>
                    <a:solidFill>
                      <a:srgbClr val="FFFFFF"/>
                    </a:solidFill>
                  </a:tcPr>
                </a:tc>
                <a:tc>
                  <a:txBody>
                    <a:bodyPr tIns="64008" bIns="64008"/>
                    <a:lstStyle/>
                    <a:p>
                      <a:pPr>
                        <a:defRPr sz="1000">
                          <a:solidFill>
                            <a:srgbClr val="374151"/>
                          </a:solidFill>
                          <a:latin typeface="Calibri"/>
                        </a:defRPr>
                      </a:pPr>
                      <a:r>
                        <a:t>PASS</a:t>
                      </a:r>
                    </a:p>
                  </a:txBody>
                  <a:tcPr>
                    <a:solidFill>
                      <a:srgbClr val="FFFFFF"/>
                    </a:solidFill>
                  </a:tcPr>
                </a:tc>
              </a:tr>
              <a:tr h="416567">
                <a:tc>
                  <a:txBody>
                    <a:bodyPr tIns="64008" bIns="64008"/>
                    <a:lstStyle/>
                    <a:p>
                      <a:pPr>
                        <a:defRPr sz="1000">
                          <a:solidFill>
                            <a:srgbClr val="374151"/>
                          </a:solidFill>
                          <a:latin typeface="Calibri"/>
                        </a:defRPr>
                      </a:pPr>
                      <a:r>
                        <a:t>API Bridge Output</a:t>
                      </a:r>
                    </a:p>
                  </a:txBody>
                  <a:tcPr>
                    <a:solidFill>
                      <a:srgbClr val="F9FAFB"/>
                    </a:solidFill>
                  </a:tcPr>
                </a:tc>
                <a:tc>
                  <a:txBody>
                    <a:bodyPr tIns="64008" bIns="64008"/>
                    <a:lstStyle/>
                    <a:p>
                      <a:pPr>
                        <a:defRPr sz="1000">
                          <a:solidFill>
                            <a:srgbClr val="374151"/>
                          </a:solidFill>
                          <a:latin typeface="Calibri"/>
                        </a:defRPr>
                      </a:pPr>
                      <a:r>
                        <a:t>T26</a:t>
                      </a:r>
                    </a:p>
                  </a:txBody>
                  <a:tcPr>
                    <a:solidFill>
                      <a:srgbClr val="F9FAFB"/>
                    </a:solidFill>
                  </a:tcPr>
                </a:tc>
                <a:tc>
                  <a:txBody>
                    <a:bodyPr tIns="64008" bIns="64008"/>
                    <a:lstStyle/>
                    <a:p>
                      <a:pPr>
                        <a:defRPr sz="1000">
                          <a:solidFill>
                            <a:srgbClr val="374151"/>
                          </a:solidFill>
                          <a:latin typeface="Calibri"/>
                        </a:defRPr>
                      </a:pPr>
                      <a:r>
                        <a:t>minisql.exe --json bridge execution</a:t>
                      </a:r>
                    </a:p>
                  </a:txBody>
                  <a:tcPr>
                    <a:solidFill>
                      <a:srgbClr val="F9FAFB"/>
                    </a:solidFill>
                  </a:tcPr>
                </a:tc>
                <a:tc>
                  <a:txBody>
                    <a:bodyPr tIns="64008" bIns="64008"/>
                    <a:lstStyle/>
                    <a:p>
                      <a:pPr>
                        <a:defRPr sz="1000">
                          <a:solidFill>
                            <a:srgbClr val="374151"/>
                          </a:solidFill>
                          <a:latin typeface="Calibri"/>
                        </a:defRPr>
                      </a:pPr>
                      <a:r>
                        <a:t>Valid machine-readable JSON</a:t>
                      </a:r>
                    </a:p>
                  </a:txBody>
                  <a:tcPr>
                    <a:solidFill>
                      <a:srgbClr val="F9FAFB"/>
                    </a:solidFill>
                  </a:tcPr>
                </a:tc>
                <a:tc>
                  <a:txBody>
                    <a:bodyPr tIns="64008" bIns="64008"/>
                    <a:lstStyle/>
                    <a:p>
                      <a:pPr>
                        <a:defRPr sz="1000">
                          <a:solidFill>
                            <a:srgbClr val="374151"/>
                          </a:solidFill>
                          <a:latin typeface="Calibri"/>
                        </a:defRPr>
                      </a:pPr>
                      <a:r>
                        <a:t>PASS</a:t>
                      </a:r>
                    </a:p>
                  </a:txBody>
                  <a:tcPr>
                    <a:solidFill>
                      <a:srgbClr val="F9FAFB"/>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PROGRESS STATUS</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Module-Wise Implementation Progress Matrix</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15 / 21</a:t>
            </a:r>
          </a:p>
        </p:txBody>
      </p:sp>
      <p:graphicFrame>
        <p:nvGraphicFramePr>
          <p:cNvPr id="7" name="Table 6"/>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011680"/>
                <a:gridCol w="2377440"/>
                <a:gridCol w="1280160"/>
                <a:gridCol w="1645920"/>
                <a:gridCol w="3413455"/>
              </a:tblGrid>
              <a:tr h="372793">
                <a:tc>
                  <a:txBody>
                    <a:bodyPr tIns="73152" bIns="73152"/>
                    <a:lstStyle/>
                    <a:p>
                      <a:pPr>
                        <a:defRPr sz="1050" b="1">
                          <a:solidFill>
                            <a:srgbClr val="111827"/>
                          </a:solidFill>
                          <a:latin typeface="Calibri"/>
                        </a:defRPr>
                      </a:pPr>
                      <a:r>
                        <a:t>Module / Subsystem</a:t>
                      </a:r>
                    </a:p>
                  </a:txBody>
                  <a:tcPr>
                    <a:solidFill>
                      <a:srgbClr val="F3F4F6"/>
                    </a:solidFill>
                  </a:tcPr>
                </a:tc>
                <a:tc>
                  <a:txBody>
                    <a:bodyPr tIns="73152" bIns="73152"/>
                    <a:lstStyle/>
                    <a:p>
                      <a:pPr>
                        <a:defRPr sz="1050" b="1">
                          <a:solidFill>
                            <a:srgbClr val="111827"/>
                          </a:solidFill>
                          <a:latin typeface="Calibri"/>
                        </a:defRPr>
                      </a:pPr>
                      <a:r>
                        <a:t>Technology / File</a:t>
                      </a:r>
                    </a:p>
                  </a:txBody>
                  <a:tcPr>
                    <a:solidFill>
                      <a:srgbClr val="F3F4F6"/>
                    </a:solidFill>
                  </a:tcPr>
                </a:tc>
                <a:tc>
                  <a:txBody>
                    <a:bodyPr tIns="73152" bIns="73152"/>
                    <a:lstStyle/>
                    <a:p>
                      <a:pPr>
                        <a:defRPr sz="1050" b="1">
                          <a:solidFill>
                            <a:srgbClr val="111827"/>
                          </a:solidFill>
                          <a:latin typeface="Calibri"/>
                        </a:defRPr>
                      </a:pPr>
                      <a:r>
                        <a:t>Project Phase</a:t>
                      </a:r>
                    </a:p>
                  </a:txBody>
                  <a:tcPr>
                    <a:solidFill>
                      <a:srgbClr val="F3F4F6"/>
                    </a:solidFill>
                  </a:tcPr>
                </a:tc>
                <a:tc>
                  <a:txBody>
                    <a:bodyPr tIns="73152" bIns="73152"/>
                    <a:lstStyle/>
                    <a:p>
                      <a:pPr>
                        <a:defRPr sz="1050" b="1">
                          <a:solidFill>
                            <a:srgbClr val="111827"/>
                          </a:solidFill>
                          <a:latin typeface="Calibri"/>
                        </a:defRPr>
                      </a:pPr>
                      <a:r>
                        <a:t>Review 2 Status</a:t>
                      </a:r>
                    </a:p>
                  </a:txBody>
                  <a:tcPr>
                    <a:solidFill>
                      <a:srgbClr val="F3F4F6"/>
                    </a:solidFill>
                  </a:tcPr>
                </a:tc>
                <a:tc>
                  <a:txBody>
                    <a:bodyPr tIns="73152" bIns="73152"/>
                    <a:lstStyle/>
                    <a:p>
                      <a:pPr>
                        <a:defRPr sz="1050" b="1">
                          <a:solidFill>
                            <a:srgbClr val="111827"/>
                          </a:solidFill>
                          <a:latin typeface="Calibri"/>
                        </a:defRPr>
                      </a:pPr>
                      <a:r>
                        <a:t>Verification Method</a:t>
                      </a:r>
                    </a:p>
                  </a:txBody>
                  <a:tcPr>
                    <a:solidFill>
                      <a:srgbClr val="F3F4F6"/>
                    </a:solidFill>
                  </a:tcPr>
                </a:tc>
              </a:tr>
              <a:tr h="372793">
                <a:tc>
                  <a:txBody>
                    <a:bodyPr tIns="64008" bIns="64008"/>
                    <a:lstStyle/>
                    <a:p>
                      <a:pPr>
                        <a:defRPr sz="1000">
                          <a:solidFill>
                            <a:srgbClr val="374151"/>
                          </a:solidFill>
                          <a:latin typeface="Calibri"/>
                        </a:defRPr>
                      </a:pPr>
                      <a:r>
                        <a:t>Lexical Scanner</a:t>
                      </a:r>
                    </a:p>
                  </a:txBody>
                  <a:tcPr>
                    <a:solidFill>
                      <a:srgbClr val="FFFFFF"/>
                    </a:solidFill>
                  </a:tcPr>
                </a:tc>
                <a:tc>
                  <a:txBody>
                    <a:bodyPr tIns="64008" bIns="64008"/>
                    <a:lstStyle/>
                    <a:p>
                      <a:pPr>
                        <a:defRPr sz="1000">
                          <a:solidFill>
                            <a:srgbClr val="374151"/>
                          </a:solidFill>
                          <a:latin typeface="Calibri"/>
                        </a:defRPr>
                      </a:pPr>
                      <a:r>
                        <a:t>Flex (lexer.l)</a:t>
                      </a:r>
                    </a:p>
                  </a:txBody>
                  <a:tcPr>
                    <a:solidFill>
                      <a:srgbClr val="FFFFFF"/>
                    </a:solidFill>
                  </a:tcPr>
                </a:tc>
                <a:tc>
                  <a:txBody>
                    <a:bodyPr tIns="64008" bIns="64008"/>
                    <a:lstStyle/>
                    <a:p>
                      <a:pPr>
                        <a:defRPr sz="1000">
                          <a:solidFill>
                            <a:srgbClr val="374151"/>
                          </a:solidFill>
                          <a:latin typeface="Calibri"/>
                        </a:defRPr>
                      </a:pPr>
                      <a:r>
                        <a:t>Phase 1</a:t>
                      </a:r>
                    </a:p>
                  </a:txBody>
                  <a:tcPr>
                    <a:solidFill>
                      <a:srgbClr val="FFFFFF"/>
                    </a:solidFill>
                  </a:tcPr>
                </a:tc>
                <a:tc>
                  <a:txBody>
                    <a:bodyPr tIns="64008" bIns="64008"/>
                    <a:lstStyle/>
                    <a:p>
                      <a:pPr>
                        <a:defRPr sz="1000">
                          <a:solidFill>
                            <a:srgbClr val="374151"/>
                          </a:solidFill>
                          <a:latin typeface="Calibri"/>
                        </a:defRPr>
                      </a:pPr>
                      <a:r>
                        <a:t>100% Complete</a:t>
                      </a:r>
                    </a:p>
                  </a:txBody>
                  <a:tcPr>
                    <a:solidFill>
                      <a:srgbClr val="FFFFFF"/>
                    </a:solidFill>
                  </a:tcPr>
                </a:tc>
                <a:tc>
                  <a:txBody>
                    <a:bodyPr tIns="64008" bIns="64008"/>
                    <a:lstStyle/>
                    <a:p>
                      <a:pPr>
                        <a:defRPr sz="1000">
                          <a:solidFill>
                            <a:srgbClr val="374151"/>
                          </a:solidFill>
                          <a:latin typeface="Calibri"/>
                        </a:defRPr>
                      </a:pPr>
                      <a:r>
                        <a:t>Verified with test queries &amp; error traps</a:t>
                      </a:r>
                    </a:p>
                  </a:txBody>
                  <a:tcPr>
                    <a:solidFill>
                      <a:srgbClr val="FFFFFF"/>
                    </a:solidFill>
                  </a:tcPr>
                </a:tc>
              </a:tr>
              <a:tr h="372793">
                <a:tc>
                  <a:txBody>
                    <a:bodyPr tIns="64008" bIns="64008"/>
                    <a:lstStyle/>
                    <a:p>
                      <a:pPr>
                        <a:defRPr sz="1000">
                          <a:solidFill>
                            <a:srgbClr val="374151"/>
                          </a:solidFill>
                          <a:latin typeface="Calibri"/>
                        </a:defRPr>
                      </a:pPr>
                      <a:r>
                        <a:t>Syntax Parser</a:t>
                      </a:r>
                    </a:p>
                  </a:txBody>
                  <a:tcPr>
                    <a:solidFill>
                      <a:srgbClr val="F9FAFB"/>
                    </a:solidFill>
                  </a:tcPr>
                </a:tc>
                <a:tc>
                  <a:txBody>
                    <a:bodyPr tIns="64008" bIns="64008"/>
                    <a:lstStyle/>
                    <a:p>
                      <a:pPr>
                        <a:defRPr sz="1000">
                          <a:solidFill>
                            <a:srgbClr val="374151"/>
                          </a:solidFill>
                          <a:latin typeface="Calibri"/>
                        </a:defRPr>
                      </a:pPr>
                      <a:r>
                        <a:t>Bison (parser.y)</a:t>
                      </a:r>
                    </a:p>
                  </a:txBody>
                  <a:tcPr>
                    <a:solidFill>
                      <a:srgbClr val="F9FAFB"/>
                    </a:solidFill>
                  </a:tcPr>
                </a:tc>
                <a:tc>
                  <a:txBody>
                    <a:bodyPr tIns="64008" bIns="64008"/>
                    <a:lstStyle/>
                    <a:p>
                      <a:pPr>
                        <a:defRPr sz="1000">
                          <a:solidFill>
                            <a:srgbClr val="374151"/>
                          </a:solidFill>
                          <a:latin typeface="Calibri"/>
                        </a:defRPr>
                      </a:pPr>
                      <a:r>
                        <a:t>Phase 1</a:t>
                      </a:r>
                    </a:p>
                  </a:txBody>
                  <a:tcPr>
                    <a:solidFill>
                      <a:srgbClr val="F9FAFB"/>
                    </a:solidFill>
                  </a:tcPr>
                </a:tc>
                <a:tc>
                  <a:txBody>
                    <a:bodyPr tIns="64008" bIns="64008"/>
                    <a:lstStyle/>
                    <a:p>
                      <a:pPr>
                        <a:defRPr sz="1000">
                          <a:solidFill>
                            <a:srgbClr val="374151"/>
                          </a:solidFill>
                          <a:latin typeface="Calibri"/>
                        </a:defRPr>
                      </a:pPr>
                      <a:r>
                        <a:t>100% Complete</a:t>
                      </a:r>
                    </a:p>
                  </a:txBody>
                  <a:tcPr>
                    <a:solidFill>
                      <a:srgbClr val="F9FAFB"/>
                    </a:solidFill>
                  </a:tcPr>
                </a:tc>
                <a:tc>
                  <a:txBody>
                    <a:bodyPr tIns="64008" bIns="64008"/>
                    <a:lstStyle/>
                    <a:p>
                      <a:pPr>
                        <a:defRPr sz="1000">
                          <a:solidFill>
                            <a:srgbClr val="374151"/>
                          </a:solidFill>
                          <a:latin typeface="Calibri"/>
                        </a:defRPr>
                      </a:pPr>
                      <a:r>
                        <a:t>Verified via LALR(1) reduction tests</a:t>
                      </a:r>
                    </a:p>
                  </a:txBody>
                  <a:tcPr>
                    <a:solidFill>
                      <a:srgbClr val="F9FAFB"/>
                    </a:solidFill>
                  </a:tcPr>
                </a:tc>
              </a:tr>
              <a:tr h="372793">
                <a:tc>
                  <a:txBody>
                    <a:bodyPr tIns="64008" bIns="64008"/>
                    <a:lstStyle/>
                    <a:p>
                      <a:pPr>
                        <a:defRPr sz="1000">
                          <a:solidFill>
                            <a:srgbClr val="374151"/>
                          </a:solidFill>
                          <a:latin typeface="Calibri"/>
                        </a:defRPr>
                      </a:pPr>
                      <a:r>
                        <a:t>AST Construction</a:t>
                      </a:r>
                    </a:p>
                  </a:txBody>
                  <a:tcPr>
                    <a:solidFill>
                      <a:srgbClr val="FFFFFF"/>
                    </a:solidFill>
                  </a:tcPr>
                </a:tc>
                <a:tc>
                  <a:txBody>
                    <a:bodyPr tIns="64008" bIns="64008"/>
                    <a:lstStyle/>
                    <a:p>
                      <a:pPr>
                        <a:defRPr sz="1000">
                          <a:solidFill>
                            <a:srgbClr val="374151"/>
                          </a:solidFill>
                          <a:latin typeface="Calibri"/>
                        </a:defRPr>
                      </a:pPr>
                      <a:r>
                        <a:t>C++17 (ast.cpp)</a:t>
                      </a:r>
                    </a:p>
                  </a:txBody>
                  <a:tcPr>
                    <a:solidFill>
                      <a:srgbClr val="FFFFFF"/>
                    </a:solidFill>
                  </a:tcPr>
                </a:tc>
                <a:tc>
                  <a:txBody>
                    <a:bodyPr tIns="64008" bIns="64008"/>
                    <a:lstStyle/>
                    <a:p>
                      <a:pPr>
                        <a:defRPr sz="1000">
                          <a:solidFill>
                            <a:srgbClr val="374151"/>
                          </a:solidFill>
                          <a:latin typeface="Calibri"/>
                        </a:defRPr>
                      </a:pPr>
                      <a:r>
                        <a:t>Phase 1</a:t>
                      </a:r>
                    </a:p>
                  </a:txBody>
                  <a:tcPr>
                    <a:solidFill>
                      <a:srgbClr val="FFFFFF"/>
                    </a:solidFill>
                  </a:tcPr>
                </a:tc>
                <a:tc>
                  <a:txBody>
                    <a:bodyPr tIns="64008" bIns="64008"/>
                    <a:lstStyle/>
                    <a:p>
                      <a:pPr>
                        <a:defRPr sz="1000">
                          <a:solidFill>
                            <a:srgbClr val="374151"/>
                          </a:solidFill>
                          <a:latin typeface="Calibri"/>
                        </a:defRPr>
                      </a:pPr>
                      <a:r>
                        <a:t>100% Complete</a:t>
                      </a:r>
                    </a:p>
                  </a:txBody>
                  <a:tcPr>
                    <a:solidFill>
                      <a:srgbClr val="FFFFFF"/>
                    </a:solidFill>
                  </a:tcPr>
                </a:tc>
                <a:tc>
                  <a:txBody>
                    <a:bodyPr tIns="64008" bIns="64008"/>
                    <a:lstStyle/>
                    <a:p>
                      <a:pPr>
                        <a:defRPr sz="1000">
                          <a:solidFill>
                            <a:srgbClr val="374151"/>
                          </a:solidFill>
                          <a:latin typeface="Calibri"/>
                        </a:defRPr>
                      </a:pPr>
                      <a:r>
                        <a:t>ASCII tree print &amp; JSON export verified</a:t>
                      </a:r>
                    </a:p>
                  </a:txBody>
                  <a:tcPr>
                    <a:solidFill>
                      <a:srgbClr val="FFFFFF"/>
                    </a:solidFill>
                  </a:tcPr>
                </a:tc>
              </a:tr>
              <a:tr h="372793">
                <a:tc>
                  <a:txBody>
                    <a:bodyPr tIns="64008" bIns="64008"/>
                    <a:lstStyle/>
                    <a:p>
                      <a:pPr>
                        <a:defRPr sz="1000">
                          <a:solidFill>
                            <a:srgbClr val="374151"/>
                          </a:solidFill>
                          <a:latin typeface="Calibri"/>
                        </a:defRPr>
                      </a:pPr>
                      <a:r>
                        <a:t>Symbol Catalog</a:t>
                      </a:r>
                    </a:p>
                  </a:txBody>
                  <a:tcPr>
                    <a:solidFill>
                      <a:srgbClr val="F9FAFB"/>
                    </a:solidFill>
                  </a:tcPr>
                </a:tc>
                <a:tc>
                  <a:txBody>
                    <a:bodyPr tIns="64008" bIns="64008"/>
                    <a:lstStyle/>
                    <a:p>
                      <a:pPr>
                        <a:defRPr sz="1000">
                          <a:solidFill>
                            <a:srgbClr val="374151"/>
                          </a:solidFill>
                          <a:latin typeface="Calibri"/>
                        </a:defRPr>
                      </a:pPr>
                      <a:r>
                        <a:t>C++17 (symbol_table.cpp)</a:t>
                      </a:r>
                    </a:p>
                  </a:txBody>
                  <a:tcPr>
                    <a:solidFill>
                      <a:srgbClr val="F9FAFB"/>
                    </a:solidFill>
                  </a:tcPr>
                </a:tc>
                <a:tc>
                  <a:txBody>
                    <a:bodyPr tIns="64008" bIns="64008"/>
                    <a:lstStyle/>
                    <a:p>
                      <a:pPr>
                        <a:defRPr sz="1000">
                          <a:solidFill>
                            <a:srgbClr val="374151"/>
                          </a:solidFill>
                          <a:latin typeface="Calibri"/>
                        </a:defRPr>
                      </a:pPr>
                      <a:r>
                        <a:t>Phase 1</a:t>
                      </a:r>
                    </a:p>
                  </a:txBody>
                  <a:tcPr>
                    <a:solidFill>
                      <a:srgbClr val="F9FAFB"/>
                    </a:solidFill>
                  </a:tcPr>
                </a:tc>
                <a:tc>
                  <a:txBody>
                    <a:bodyPr tIns="64008" bIns="64008"/>
                    <a:lstStyle/>
                    <a:p>
                      <a:pPr>
                        <a:defRPr sz="1000">
                          <a:solidFill>
                            <a:srgbClr val="374151"/>
                          </a:solidFill>
                          <a:latin typeface="Calibri"/>
                        </a:defRPr>
                      </a:pPr>
                      <a:r>
                        <a:t>100% Complete</a:t>
                      </a:r>
                    </a:p>
                  </a:txBody>
                  <a:tcPr>
                    <a:solidFill>
                      <a:srgbClr val="F9FAFB"/>
                    </a:solidFill>
                  </a:tcPr>
                </a:tc>
                <a:tc>
                  <a:txBody>
                    <a:bodyPr tIns="64008" bIns="64008"/>
                    <a:lstStyle/>
                    <a:p>
                      <a:pPr>
                        <a:defRPr sz="1000">
                          <a:solidFill>
                            <a:srgbClr val="374151"/>
                          </a:solidFill>
                          <a:latin typeface="Calibri"/>
                        </a:defRPr>
                      </a:pPr>
                      <a:r>
                        <a:t>Catalog schema lookup verified</a:t>
                      </a:r>
                    </a:p>
                  </a:txBody>
                  <a:tcPr>
                    <a:solidFill>
                      <a:srgbClr val="F9FAFB"/>
                    </a:solidFill>
                  </a:tcPr>
                </a:tc>
              </a:tr>
              <a:tr h="372793">
                <a:tc>
                  <a:txBody>
                    <a:bodyPr tIns="64008" bIns="64008"/>
                    <a:lstStyle/>
                    <a:p>
                      <a:pPr>
                        <a:defRPr sz="1000">
                          <a:solidFill>
                            <a:srgbClr val="374151"/>
                          </a:solidFill>
                          <a:latin typeface="Calibri"/>
                        </a:defRPr>
                      </a:pPr>
                      <a:r>
                        <a:t>Semantic Analyzer</a:t>
                      </a:r>
                    </a:p>
                  </a:txBody>
                  <a:tcPr>
                    <a:solidFill>
                      <a:srgbClr val="FFFFFF"/>
                    </a:solidFill>
                  </a:tcPr>
                </a:tc>
                <a:tc>
                  <a:txBody>
                    <a:bodyPr tIns="64008" bIns="64008"/>
                    <a:lstStyle/>
                    <a:p>
                      <a:pPr>
                        <a:defRPr sz="1000">
                          <a:solidFill>
                            <a:srgbClr val="374151"/>
                          </a:solidFill>
                          <a:latin typeface="Calibri"/>
                        </a:defRPr>
                      </a:pPr>
                      <a:r>
                        <a:t>C++17 (semantic_analyzer.cpp)</a:t>
                      </a:r>
                    </a:p>
                  </a:txBody>
                  <a:tcPr>
                    <a:solidFill>
                      <a:srgbClr val="FFFFFF"/>
                    </a:solidFill>
                  </a:tcPr>
                </a:tc>
                <a:tc>
                  <a:txBody>
                    <a:bodyPr tIns="64008" bIns="64008"/>
                    <a:lstStyle/>
                    <a:p>
                      <a:pPr>
                        <a:defRPr sz="1000">
                          <a:solidFill>
                            <a:srgbClr val="374151"/>
                          </a:solidFill>
                          <a:latin typeface="Calibri"/>
                        </a:defRPr>
                      </a:pPr>
                      <a:r>
                        <a:t>Phase 1</a:t>
                      </a:r>
                    </a:p>
                  </a:txBody>
                  <a:tcPr>
                    <a:solidFill>
                      <a:srgbClr val="FFFFFF"/>
                    </a:solidFill>
                  </a:tcPr>
                </a:tc>
                <a:tc>
                  <a:txBody>
                    <a:bodyPr tIns="64008" bIns="64008"/>
                    <a:lstStyle/>
                    <a:p>
                      <a:pPr>
                        <a:defRPr sz="1000">
                          <a:solidFill>
                            <a:srgbClr val="374151"/>
                          </a:solidFill>
                          <a:latin typeface="Calibri"/>
                        </a:defRPr>
                      </a:pPr>
                      <a:r>
                        <a:t>100% Complete</a:t>
                      </a:r>
                    </a:p>
                  </a:txBody>
                  <a:tcPr>
                    <a:solidFill>
                      <a:srgbClr val="FFFFFF"/>
                    </a:solidFill>
                  </a:tcPr>
                </a:tc>
                <a:tc>
                  <a:txBody>
                    <a:bodyPr tIns="64008" bIns="64008"/>
                    <a:lstStyle/>
                    <a:p>
                      <a:pPr>
                        <a:defRPr sz="1000">
                          <a:solidFill>
                            <a:srgbClr val="374151"/>
                          </a:solidFill>
                          <a:latin typeface="Calibri"/>
                        </a:defRPr>
                      </a:pPr>
                      <a:r>
                        <a:t>6-point semantic checklist passing</a:t>
                      </a:r>
                    </a:p>
                  </a:txBody>
                  <a:tcPr>
                    <a:solidFill>
                      <a:srgbClr val="FFFFFF"/>
                    </a:solidFill>
                  </a:tcPr>
                </a:tc>
              </a:tr>
              <a:tr h="372793">
                <a:tc>
                  <a:txBody>
                    <a:bodyPr tIns="64008" bIns="64008"/>
                    <a:lstStyle/>
                    <a:p>
                      <a:pPr>
                        <a:defRPr sz="1000">
                          <a:solidFill>
                            <a:srgbClr val="374151"/>
                          </a:solidFill>
                          <a:latin typeface="Calibri"/>
                        </a:defRPr>
                      </a:pPr>
                      <a:r>
                        <a:t>Relational IR</a:t>
                      </a:r>
                    </a:p>
                  </a:txBody>
                  <a:tcPr>
                    <a:solidFill>
                      <a:srgbClr val="F9FAFB"/>
                    </a:solidFill>
                  </a:tcPr>
                </a:tc>
                <a:tc>
                  <a:txBody>
                    <a:bodyPr tIns="64008" bIns="64008"/>
                    <a:lstStyle/>
                    <a:p>
                      <a:pPr>
                        <a:defRPr sz="1000">
                          <a:solidFill>
                            <a:srgbClr val="374151"/>
                          </a:solidFill>
                          <a:latin typeface="Calibri"/>
                        </a:defRPr>
                      </a:pPr>
                      <a:r>
                        <a:t>C++17 (ir.cpp)</a:t>
                      </a:r>
                    </a:p>
                  </a:txBody>
                  <a:tcPr>
                    <a:solidFill>
                      <a:srgbClr val="F9FAFB"/>
                    </a:solidFill>
                  </a:tcPr>
                </a:tc>
                <a:tc>
                  <a:txBody>
                    <a:bodyPr tIns="64008" bIns="64008"/>
                    <a:lstStyle/>
                    <a:p>
                      <a:pPr>
                        <a:defRPr sz="1000">
                          <a:solidFill>
                            <a:srgbClr val="374151"/>
                          </a:solidFill>
                          <a:latin typeface="Calibri"/>
                        </a:defRPr>
                      </a:pPr>
                      <a:r>
                        <a:t>Phase 2</a:t>
                      </a:r>
                    </a:p>
                  </a:txBody>
                  <a:tcPr>
                    <a:solidFill>
                      <a:srgbClr val="F9FAFB"/>
                    </a:solidFill>
                  </a:tcPr>
                </a:tc>
                <a:tc>
                  <a:txBody>
                    <a:bodyPr tIns="64008" bIns="64008"/>
                    <a:lstStyle/>
                    <a:p>
                      <a:pPr>
                        <a:defRPr sz="1000">
                          <a:solidFill>
                            <a:srgbClr val="374151"/>
                          </a:solidFill>
                          <a:latin typeface="Calibri"/>
                        </a:defRPr>
                      </a:pPr>
                      <a:r>
                        <a:t>100% Complete</a:t>
                      </a:r>
                    </a:p>
                  </a:txBody>
                  <a:tcPr>
                    <a:solidFill>
                      <a:srgbClr val="F9FAFB"/>
                    </a:solidFill>
                  </a:tcPr>
                </a:tc>
                <a:tc>
                  <a:txBody>
                    <a:bodyPr tIns="64008" bIns="64008"/>
                    <a:lstStyle/>
                    <a:p>
                      <a:pPr>
                        <a:defRPr sz="1000">
                          <a:solidFill>
                            <a:srgbClr val="374151"/>
                          </a:solidFill>
                          <a:latin typeface="Calibri"/>
                        </a:defRPr>
                      </a:pPr>
                      <a:r>
                        <a:t>Canonical operator trees generated</a:t>
                      </a:r>
                    </a:p>
                  </a:txBody>
                  <a:tcPr>
                    <a:solidFill>
                      <a:srgbClr val="F9FAFB"/>
                    </a:solidFill>
                  </a:tcPr>
                </a:tc>
              </a:tr>
              <a:tr h="372793">
                <a:tc>
                  <a:txBody>
                    <a:bodyPr tIns="64008" bIns="64008"/>
                    <a:lstStyle/>
                    <a:p>
                      <a:pPr>
                        <a:defRPr sz="1000">
                          <a:solidFill>
                            <a:srgbClr val="374151"/>
                          </a:solidFill>
                          <a:latin typeface="Calibri"/>
                        </a:defRPr>
                      </a:pPr>
                      <a:r>
                        <a:t>Query Optimizer</a:t>
                      </a:r>
                    </a:p>
                  </a:txBody>
                  <a:tcPr>
                    <a:solidFill>
                      <a:srgbClr val="FFFFFF"/>
                    </a:solidFill>
                  </a:tcPr>
                </a:tc>
                <a:tc>
                  <a:txBody>
                    <a:bodyPr tIns="64008" bIns="64008"/>
                    <a:lstStyle/>
                    <a:p>
                      <a:pPr>
                        <a:defRPr sz="1000">
                          <a:solidFill>
                            <a:srgbClr val="374151"/>
                          </a:solidFill>
                          <a:latin typeface="Calibri"/>
                        </a:defRPr>
                      </a:pPr>
                      <a:r>
                        <a:t>C++17 (optimizer.cpp)</a:t>
                      </a:r>
                    </a:p>
                  </a:txBody>
                  <a:tcPr>
                    <a:solidFill>
                      <a:srgbClr val="FFFFFF"/>
                    </a:solidFill>
                  </a:tcPr>
                </a:tc>
                <a:tc>
                  <a:txBody>
                    <a:bodyPr tIns="64008" bIns="64008"/>
                    <a:lstStyle/>
                    <a:p>
                      <a:pPr>
                        <a:defRPr sz="1000">
                          <a:solidFill>
                            <a:srgbClr val="374151"/>
                          </a:solidFill>
                          <a:latin typeface="Calibri"/>
                        </a:defRPr>
                      </a:pPr>
                      <a:r>
                        <a:t>Phase 2</a:t>
                      </a:r>
                    </a:p>
                  </a:txBody>
                  <a:tcPr>
                    <a:solidFill>
                      <a:srgbClr val="FFFFFF"/>
                    </a:solidFill>
                  </a:tcPr>
                </a:tc>
                <a:tc>
                  <a:txBody>
                    <a:bodyPr tIns="64008" bIns="64008"/>
                    <a:lstStyle/>
                    <a:p>
                      <a:pPr>
                        <a:defRPr sz="1000">
                          <a:solidFill>
                            <a:srgbClr val="374151"/>
                          </a:solidFill>
                          <a:latin typeface="Calibri"/>
                        </a:defRPr>
                      </a:pPr>
                      <a:r>
                        <a:t>100% Complete</a:t>
                      </a:r>
                    </a:p>
                  </a:txBody>
                  <a:tcPr>
                    <a:solidFill>
                      <a:srgbClr val="FFFFFF"/>
                    </a:solidFill>
                  </a:tcPr>
                </a:tc>
                <a:tc>
                  <a:txBody>
                    <a:bodyPr tIns="64008" bIns="64008"/>
                    <a:lstStyle/>
                    <a:p>
                      <a:pPr>
                        <a:defRPr sz="1000">
                          <a:solidFill>
                            <a:srgbClr val="374151"/>
                          </a:solidFill>
                          <a:latin typeface="Calibri"/>
                        </a:defRPr>
                      </a:pPr>
                      <a:r>
                        <a:t>Filter pushdown &amp; late projection verified</a:t>
                      </a:r>
                    </a:p>
                  </a:txBody>
                  <a:tcPr>
                    <a:solidFill>
                      <a:srgbClr val="FFFFFF"/>
                    </a:solidFill>
                  </a:tcPr>
                </a:tc>
              </a:tr>
              <a:tr h="372793">
                <a:tc>
                  <a:txBody>
                    <a:bodyPr tIns="64008" bIns="64008"/>
                    <a:lstStyle/>
                    <a:p>
                      <a:pPr>
                        <a:defRPr sz="1000">
                          <a:solidFill>
                            <a:srgbClr val="374151"/>
                          </a:solidFill>
                          <a:latin typeface="Calibri"/>
                        </a:defRPr>
                      </a:pPr>
                      <a:r>
                        <a:t>Physical CSV Executor</a:t>
                      </a:r>
                    </a:p>
                  </a:txBody>
                  <a:tcPr>
                    <a:solidFill>
                      <a:srgbClr val="F9FAFB"/>
                    </a:solidFill>
                  </a:tcPr>
                </a:tc>
                <a:tc>
                  <a:txBody>
                    <a:bodyPr tIns="64008" bIns="64008"/>
                    <a:lstStyle/>
                    <a:p>
                      <a:pPr>
                        <a:defRPr sz="1000">
                          <a:solidFill>
                            <a:srgbClr val="374151"/>
                          </a:solidFill>
                          <a:latin typeface="Calibri"/>
                        </a:defRPr>
                      </a:pPr>
                      <a:r>
                        <a:t>C++17 (executor.cpp)</a:t>
                      </a:r>
                    </a:p>
                  </a:txBody>
                  <a:tcPr>
                    <a:solidFill>
                      <a:srgbClr val="F9FAFB"/>
                    </a:solidFill>
                  </a:tcPr>
                </a:tc>
                <a:tc>
                  <a:txBody>
                    <a:bodyPr tIns="64008" bIns="64008"/>
                    <a:lstStyle/>
                    <a:p>
                      <a:pPr>
                        <a:defRPr sz="1000">
                          <a:solidFill>
                            <a:srgbClr val="374151"/>
                          </a:solidFill>
                          <a:latin typeface="Calibri"/>
                        </a:defRPr>
                      </a:pPr>
                      <a:r>
                        <a:t>Phase 2</a:t>
                      </a:r>
                    </a:p>
                  </a:txBody>
                  <a:tcPr>
                    <a:solidFill>
                      <a:srgbClr val="F9FAFB"/>
                    </a:solidFill>
                  </a:tcPr>
                </a:tc>
                <a:tc>
                  <a:txBody>
                    <a:bodyPr tIns="64008" bIns="64008"/>
                    <a:lstStyle/>
                    <a:p>
                      <a:pPr>
                        <a:defRPr sz="1000">
                          <a:solidFill>
                            <a:srgbClr val="374151"/>
                          </a:solidFill>
                          <a:latin typeface="Calibri"/>
                        </a:defRPr>
                      </a:pPr>
                      <a:r>
                        <a:t>100% Complete</a:t>
                      </a:r>
                    </a:p>
                  </a:txBody>
                  <a:tcPr>
                    <a:solidFill>
                      <a:srgbClr val="F9FAFB"/>
                    </a:solidFill>
                  </a:tcPr>
                </a:tc>
                <a:tc>
                  <a:txBody>
                    <a:bodyPr tIns="64008" bIns="64008"/>
                    <a:lstStyle/>
                    <a:p>
                      <a:pPr>
                        <a:defRPr sz="1000">
                          <a:solidFill>
                            <a:srgbClr val="374151"/>
                          </a:solidFill>
                          <a:latin typeface="Calibri"/>
                        </a:defRPr>
                      </a:pPr>
                      <a:r>
                        <a:t>In-memory tuple evaluation verified</a:t>
                      </a:r>
                    </a:p>
                  </a:txBody>
                  <a:tcPr>
                    <a:solidFill>
                      <a:srgbClr val="F9FAFB"/>
                    </a:solidFill>
                  </a:tcPr>
                </a:tc>
              </a:tr>
              <a:tr h="372793">
                <a:tc>
                  <a:txBody>
                    <a:bodyPr tIns="64008" bIns="64008"/>
                    <a:lstStyle/>
                    <a:p>
                      <a:pPr>
                        <a:defRPr sz="1000">
                          <a:solidFill>
                            <a:srgbClr val="374151"/>
                          </a:solidFill>
                          <a:latin typeface="Calibri"/>
                        </a:defRPr>
                      </a:pPr>
                      <a:r>
                        <a:t>Fail-Stop Error Traps</a:t>
                      </a:r>
                    </a:p>
                  </a:txBody>
                  <a:tcPr>
                    <a:solidFill>
                      <a:srgbClr val="FFFFFF"/>
                    </a:solidFill>
                  </a:tcPr>
                </a:tc>
                <a:tc>
                  <a:txBody>
                    <a:bodyPr tIns="64008" bIns="64008"/>
                    <a:lstStyle/>
                    <a:p>
                      <a:pPr>
                        <a:defRPr sz="1000">
                          <a:solidFill>
                            <a:srgbClr val="374151"/>
                          </a:solidFill>
                          <a:latin typeface="Calibri"/>
                        </a:defRPr>
                      </a:pPr>
                      <a:r>
                        <a:t>C++ Pipeline Traps</a:t>
                      </a:r>
                    </a:p>
                  </a:txBody>
                  <a:tcPr>
                    <a:solidFill>
                      <a:srgbClr val="FFFFFF"/>
                    </a:solidFill>
                  </a:tcPr>
                </a:tc>
                <a:tc>
                  <a:txBody>
                    <a:bodyPr tIns="64008" bIns="64008"/>
                    <a:lstStyle/>
                    <a:p>
                      <a:pPr>
                        <a:defRPr sz="1000">
                          <a:solidFill>
                            <a:srgbClr val="374151"/>
                          </a:solidFill>
                          <a:latin typeface="Calibri"/>
                        </a:defRPr>
                      </a:pPr>
                      <a:r>
                        <a:t>Phase 2</a:t>
                      </a:r>
                    </a:p>
                  </a:txBody>
                  <a:tcPr>
                    <a:solidFill>
                      <a:srgbClr val="FFFFFF"/>
                    </a:solidFill>
                  </a:tcPr>
                </a:tc>
                <a:tc>
                  <a:txBody>
                    <a:bodyPr tIns="64008" bIns="64008"/>
                    <a:lstStyle/>
                    <a:p>
                      <a:pPr>
                        <a:defRPr sz="1000">
                          <a:solidFill>
                            <a:srgbClr val="374151"/>
                          </a:solidFill>
                          <a:latin typeface="Calibri"/>
                        </a:defRPr>
                      </a:pPr>
                      <a:r>
                        <a:t>100% Complete</a:t>
                      </a:r>
                    </a:p>
                  </a:txBody>
                  <a:tcPr>
                    <a:solidFill>
                      <a:srgbClr val="FFFFFF"/>
                    </a:solidFill>
                  </a:tcPr>
                </a:tc>
                <a:tc>
                  <a:txBody>
                    <a:bodyPr tIns="64008" bIns="64008"/>
                    <a:lstStyle/>
                    <a:p>
                      <a:pPr>
                        <a:defRPr sz="1000">
                          <a:solidFill>
                            <a:srgbClr val="374151"/>
                          </a:solidFill>
                          <a:latin typeface="Calibri"/>
                        </a:defRPr>
                      </a:pPr>
                      <a:r>
                        <a:t>Verified via T17–T25 test cases</a:t>
                      </a:r>
                    </a:p>
                  </a:txBody>
                  <a:tcPr>
                    <a:solidFill>
                      <a:srgbClr val="FFFFFF"/>
                    </a:solidFill>
                  </a:tcPr>
                </a:tc>
              </a:tr>
              <a:tr h="372793">
                <a:tc>
                  <a:txBody>
                    <a:bodyPr tIns="64008" bIns="64008"/>
                    <a:lstStyle/>
                    <a:p>
                      <a:pPr>
                        <a:defRPr sz="1000">
                          <a:solidFill>
                            <a:srgbClr val="374151"/>
                          </a:solidFill>
                          <a:latin typeface="Calibri"/>
                        </a:defRPr>
                      </a:pPr>
                      <a:r>
                        <a:t>CLI JSON Bridge</a:t>
                      </a:r>
                    </a:p>
                  </a:txBody>
                  <a:tcPr>
                    <a:solidFill>
                      <a:srgbClr val="F9FAFB"/>
                    </a:solidFill>
                  </a:tcPr>
                </a:tc>
                <a:tc>
                  <a:txBody>
                    <a:bodyPr tIns="64008" bIns="64008"/>
                    <a:lstStyle/>
                    <a:p>
                      <a:pPr>
                        <a:defRPr sz="1000">
                          <a:solidFill>
                            <a:srgbClr val="374151"/>
                          </a:solidFill>
                          <a:latin typeface="Calibri"/>
                        </a:defRPr>
                      </a:pPr>
                      <a:r>
                        <a:t>minisql.exe --json</a:t>
                      </a:r>
                    </a:p>
                  </a:txBody>
                  <a:tcPr>
                    <a:solidFill>
                      <a:srgbClr val="F9FAFB"/>
                    </a:solidFill>
                  </a:tcPr>
                </a:tc>
                <a:tc>
                  <a:txBody>
                    <a:bodyPr tIns="64008" bIns="64008"/>
                    <a:lstStyle/>
                    <a:p>
                      <a:pPr>
                        <a:defRPr sz="1000">
                          <a:solidFill>
                            <a:srgbClr val="374151"/>
                          </a:solidFill>
                          <a:latin typeface="Calibri"/>
                        </a:defRPr>
                      </a:pPr>
                      <a:r>
                        <a:t>Phase 2 / 3</a:t>
                      </a:r>
                    </a:p>
                  </a:txBody>
                  <a:tcPr>
                    <a:solidFill>
                      <a:srgbClr val="F9FAFB"/>
                    </a:solidFill>
                  </a:tcPr>
                </a:tc>
                <a:tc>
                  <a:txBody>
                    <a:bodyPr tIns="64008" bIns="64008"/>
                    <a:lstStyle/>
                    <a:p>
                      <a:pPr>
                        <a:defRPr sz="1000">
                          <a:solidFill>
                            <a:srgbClr val="374151"/>
                          </a:solidFill>
                          <a:latin typeface="Calibri"/>
                        </a:defRPr>
                      </a:pPr>
                      <a:r>
                        <a:t>100% Complete</a:t>
                      </a:r>
                    </a:p>
                  </a:txBody>
                  <a:tcPr>
                    <a:solidFill>
                      <a:srgbClr val="F9FAFB"/>
                    </a:solidFill>
                  </a:tcPr>
                </a:tc>
                <a:tc>
                  <a:txBody>
                    <a:bodyPr tIns="64008" bIns="64008"/>
                    <a:lstStyle/>
                    <a:p>
                      <a:pPr>
                        <a:defRPr sz="1000">
                          <a:solidFill>
                            <a:srgbClr val="374151"/>
                          </a:solidFill>
                          <a:latin typeface="Calibri"/>
                        </a:defRPr>
                      </a:pPr>
                      <a:r>
                        <a:t>Pure structured JSON emitted to stdout</a:t>
                      </a:r>
                    </a:p>
                  </a:txBody>
                  <a:tcPr>
                    <a:solidFill>
                      <a:srgbClr val="F9FAFB"/>
                    </a:solidFill>
                  </a:tcPr>
                </a:tc>
              </a:tr>
              <a:tr h="372793">
                <a:tc>
                  <a:txBody>
                    <a:bodyPr tIns="64008" bIns="64008"/>
                    <a:lstStyle/>
                    <a:p>
                      <a:pPr>
                        <a:defRPr sz="1000">
                          <a:solidFill>
                            <a:srgbClr val="374151"/>
                          </a:solidFill>
                          <a:latin typeface="Calibri"/>
                        </a:defRPr>
                      </a:pPr>
                      <a:r>
                        <a:t>Web Visualizer UI</a:t>
                      </a:r>
                    </a:p>
                  </a:txBody>
                  <a:tcPr>
                    <a:solidFill>
                      <a:srgbClr val="FFFFFF"/>
                    </a:solidFill>
                  </a:tcPr>
                </a:tc>
                <a:tc>
                  <a:txBody>
                    <a:bodyPr tIns="64008" bIns="64008"/>
                    <a:lstStyle/>
                    <a:p>
                      <a:pPr>
                        <a:defRPr sz="1000">
                          <a:solidFill>
                            <a:srgbClr val="374151"/>
                          </a:solidFill>
                          <a:latin typeface="Calibri"/>
                        </a:defRPr>
                      </a:pPr>
                      <a:r>
                        <a:t>React 18 / TypeScript</a:t>
                      </a:r>
                    </a:p>
                  </a:txBody>
                  <a:tcPr>
                    <a:solidFill>
                      <a:srgbClr val="FFFFFF"/>
                    </a:solidFill>
                  </a:tcPr>
                </a:tc>
                <a:tc>
                  <a:txBody>
                    <a:bodyPr tIns="64008" bIns="64008"/>
                    <a:lstStyle/>
                    <a:p>
                      <a:pPr>
                        <a:defRPr sz="1000">
                          <a:solidFill>
                            <a:srgbClr val="374151"/>
                          </a:solidFill>
                          <a:latin typeface="Calibri"/>
                        </a:defRPr>
                      </a:pPr>
                      <a:r>
                        <a:t>Phase 3</a:t>
                      </a:r>
                    </a:p>
                  </a:txBody>
                  <a:tcPr>
                    <a:solidFill>
                      <a:srgbClr val="FFFFFF"/>
                    </a:solidFill>
                  </a:tcPr>
                </a:tc>
                <a:tc>
                  <a:txBody>
                    <a:bodyPr tIns="64008" bIns="64008"/>
                    <a:lstStyle/>
                    <a:p>
                      <a:pPr>
                        <a:defRPr sz="1000">
                          <a:solidFill>
                            <a:srgbClr val="374151"/>
                          </a:solidFill>
                          <a:latin typeface="Calibri"/>
                        </a:defRPr>
                      </a:pPr>
                      <a:r>
                        <a:t>~80% Complete</a:t>
                      </a:r>
                    </a:p>
                  </a:txBody>
                  <a:tcPr>
                    <a:solidFill>
                      <a:srgbClr val="FFFFFF"/>
                    </a:solidFill>
                  </a:tcPr>
                </a:tc>
                <a:tc>
                  <a:txBody>
                    <a:bodyPr tIns="64008" bIns="64008"/>
                    <a:lstStyle/>
                    <a:p>
                      <a:pPr>
                        <a:defRPr sz="1000">
                          <a:solidFill>
                            <a:srgbClr val="374151"/>
                          </a:solidFill>
                          <a:latin typeface="Calibri"/>
                        </a:defRPr>
                      </a:pPr>
                      <a:r>
                        <a:t>Functional locally on port 5173</a:t>
                      </a:r>
                    </a:p>
                  </a:txBody>
                  <a:tcPr>
                    <a:solidFill>
                      <a:srgbClr val="FFFFFF"/>
                    </a:solidFill>
                  </a:tcPr>
                </a:tc>
              </a:tr>
              <a:tr h="372804">
                <a:tc>
                  <a:txBody>
                    <a:bodyPr tIns="64008" bIns="64008"/>
                    <a:lstStyle/>
                    <a:p>
                      <a:pPr>
                        <a:defRPr sz="1000">
                          <a:solidFill>
                            <a:srgbClr val="374151"/>
                          </a:solidFill>
                          <a:latin typeface="Calibri"/>
                        </a:defRPr>
                      </a:pPr>
                      <a:r>
                        <a:t>Multi-Table Joins</a:t>
                      </a:r>
                    </a:p>
                  </a:txBody>
                  <a:tcPr>
                    <a:solidFill>
                      <a:srgbClr val="F9FAFB"/>
                    </a:solidFill>
                  </a:tcPr>
                </a:tc>
                <a:tc>
                  <a:txBody>
                    <a:bodyPr tIns="64008" bIns="64008"/>
                    <a:lstStyle/>
                    <a:p>
                      <a:pPr>
                        <a:defRPr sz="1000">
                          <a:solidFill>
                            <a:srgbClr val="374151"/>
                          </a:solidFill>
                          <a:latin typeface="Calibri"/>
                        </a:defRPr>
                      </a:pPr>
                      <a:r>
                        <a:t>Relational Join IR</a:t>
                      </a:r>
                    </a:p>
                  </a:txBody>
                  <a:tcPr>
                    <a:solidFill>
                      <a:srgbClr val="F9FAFB"/>
                    </a:solidFill>
                  </a:tcPr>
                </a:tc>
                <a:tc>
                  <a:txBody>
                    <a:bodyPr tIns="64008" bIns="64008"/>
                    <a:lstStyle/>
                    <a:p>
                      <a:pPr>
                        <a:defRPr sz="1000">
                          <a:solidFill>
                            <a:srgbClr val="374151"/>
                          </a:solidFill>
                          <a:latin typeface="Calibri"/>
                        </a:defRPr>
                      </a:pPr>
                      <a:r>
                        <a:t>Phase 3</a:t>
                      </a:r>
                    </a:p>
                  </a:txBody>
                  <a:tcPr>
                    <a:solidFill>
                      <a:srgbClr val="F9FAFB"/>
                    </a:solidFill>
                  </a:tcPr>
                </a:tc>
                <a:tc>
                  <a:txBody>
                    <a:bodyPr tIns="64008" bIns="64008"/>
                    <a:lstStyle/>
                    <a:p>
                      <a:pPr>
                        <a:defRPr sz="1000">
                          <a:solidFill>
                            <a:srgbClr val="374151"/>
                          </a:solidFill>
                          <a:latin typeface="Calibri"/>
                        </a:defRPr>
                      </a:pPr>
                      <a:r>
                        <a:t>Pending Scope</a:t>
                      </a:r>
                    </a:p>
                  </a:txBody>
                  <a:tcPr>
                    <a:solidFill>
                      <a:srgbClr val="F9FAFB"/>
                    </a:solidFill>
                  </a:tcPr>
                </a:tc>
                <a:tc>
                  <a:txBody>
                    <a:bodyPr tIns="64008" bIns="64008"/>
                    <a:lstStyle/>
                    <a:p>
                      <a:pPr>
                        <a:defRPr sz="1000">
                          <a:solidFill>
                            <a:srgbClr val="374151"/>
                          </a:solidFill>
                          <a:latin typeface="Calibri"/>
                        </a:defRPr>
                      </a:pPr>
                      <a:r>
                        <a:t>Reserved for Phase 3 extension</a:t>
                      </a:r>
                    </a:p>
                  </a:txBody>
                  <a:tcPr>
                    <a:solidFill>
                      <a:srgbClr val="F9FAFB"/>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RUBRIC COMPLIANCE</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Review 2 Assessment Rubric &amp; Evidence Mapping</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16 / 21</a:t>
            </a:r>
          </a:p>
        </p:txBody>
      </p:sp>
      <p:graphicFrame>
        <p:nvGraphicFramePr>
          <p:cNvPr id="7" name="Table 6"/>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011680"/>
                <a:gridCol w="1005840"/>
                <a:gridCol w="5150815"/>
                <a:gridCol w="2560320"/>
              </a:tblGrid>
              <a:tr h="692331">
                <a:tc>
                  <a:txBody>
                    <a:bodyPr tIns="73152" bIns="73152"/>
                    <a:lstStyle/>
                    <a:p>
                      <a:pPr>
                        <a:defRPr sz="1050" b="1">
                          <a:solidFill>
                            <a:srgbClr val="111827"/>
                          </a:solidFill>
                          <a:latin typeface="Calibri"/>
                        </a:defRPr>
                      </a:pPr>
                      <a:r>
                        <a:t>Rubric Criteria</a:t>
                      </a:r>
                    </a:p>
                  </a:txBody>
                  <a:tcPr>
                    <a:solidFill>
                      <a:srgbClr val="F3F4F6"/>
                    </a:solidFill>
                  </a:tcPr>
                </a:tc>
                <a:tc>
                  <a:txBody>
                    <a:bodyPr tIns="73152" bIns="73152"/>
                    <a:lstStyle/>
                    <a:p>
                      <a:pPr>
                        <a:defRPr sz="1050" b="1">
                          <a:solidFill>
                            <a:srgbClr val="111827"/>
                          </a:solidFill>
                          <a:latin typeface="Calibri"/>
                        </a:defRPr>
                      </a:pPr>
                      <a:r>
                        <a:t>Marks</a:t>
                      </a:r>
                    </a:p>
                  </a:txBody>
                  <a:tcPr>
                    <a:solidFill>
                      <a:srgbClr val="F3F4F6"/>
                    </a:solidFill>
                  </a:tcPr>
                </a:tc>
                <a:tc>
                  <a:txBody>
                    <a:bodyPr tIns="73152" bIns="73152"/>
                    <a:lstStyle/>
                    <a:p>
                      <a:pPr>
                        <a:defRPr sz="1050" b="1">
                          <a:solidFill>
                            <a:srgbClr val="111827"/>
                          </a:solidFill>
                          <a:latin typeface="Calibri"/>
                        </a:defRPr>
                      </a:pPr>
                      <a:r>
                        <a:t>Project Implementation Evidence</a:t>
                      </a:r>
                    </a:p>
                  </a:txBody>
                  <a:tcPr>
                    <a:solidFill>
                      <a:srgbClr val="F3F4F6"/>
                    </a:solidFill>
                  </a:tcPr>
                </a:tc>
                <a:tc>
                  <a:txBody>
                    <a:bodyPr tIns="73152" bIns="73152"/>
                    <a:lstStyle/>
                    <a:p>
                      <a:pPr>
                        <a:defRPr sz="1050" b="1">
                          <a:solidFill>
                            <a:srgbClr val="111827"/>
                          </a:solidFill>
                          <a:latin typeface="Calibri"/>
                        </a:defRPr>
                      </a:pPr>
                      <a:r>
                        <a:t>Deliverable Status</a:t>
                      </a:r>
                    </a:p>
                  </a:txBody>
                  <a:tcPr>
                    <a:solidFill>
                      <a:srgbClr val="F3F4F6"/>
                    </a:solidFill>
                  </a:tcPr>
                </a:tc>
              </a:tr>
              <a:tr h="692331">
                <a:tc>
                  <a:txBody>
                    <a:bodyPr tIns="64008" bIns="64008"/>
                    <a:lstStyle/>
                    <a:p>
                      <a:pPr>
                        <a:defRPr sz="1000">
                          <a:solidFill>
                            <a:srgbClr val="374151"/>
                          </a:solidFill>
                          <a:latin typeface="Calibri"/>
                        </a:defRPr>
                      </a:pPr>
                      <a:r>
                        <a:t>Implementation Progress</a:t>
                      </a:r>
                    </a:p>
                  </a:txBody>
                  <a:tcPr>
                    <a:solidFill>
                      <a:srgbClr val="FFFFFF"/>
                    </a:solidFill>
                  </a:tcPr>
                </a:tc>
                <a:tc>
                  <a:txBody>
                    <a:bodyPr tIns="64008" bIns="64008"/>
                    <a:lstStyle/>
                    <a:p>
                      <a:pPr>
                        <a:defRPr sz="1000">
                          <a:solidFill>
                            <a:srgbClr val="374151"/>
                          </a:solidFill>
                          <a:latin typeface="Calibri"/>
                        </a:defRPr>
                      </a:pPr>
                      <a:r>
                        <a:t>7 Marks</a:t>
                      </a:r>
                    </a:p>
                  </a:txBody>
                  <a:tcPr>
                    <a:solidFill>
                      <a:srgbClr val="FFFFFF"/>
                    </a:solidFill>
                  </a:tcPr>
                </a:tc>
                <a:tc>
                  <a:txBody>
                    <a:bodyPr tIns="64008" bIns="64008"/>
                    <a:lstStyle/>
                    <a:p>
                      <a:pPr>
                        <a:defRPr sz="1000">
                          <a:solidFill>
                            <a:srgbClr val="374151"/>
                          </a:solidFill>
                          <a:latin typeface="Calibri"/>
                        </a:defRPr>
                      </a:pPr>
                      <a:r>
                        <a:t>Complete working C++ pipeline (Lexer → Parser → AST → Semantic → IR → Optimizer → Executor) plus functional React/Node web visualizer.</a:t>
                      </a:r>
                    </a:p>
                  </a:txBody>
                  <a:tcPr>
                    <a:solidFill>
                      <a:srgbClr val="FFFFFF"/>
                    </a:solidFill>
                  </a:tcPr>
                </a:tc>
                <a:tc>
                  <a:txBody>
                    <a:bodyPr tIns="64008" bIns="64008"/>
                    <a:lstStyle/>
                    <a:p>
                      <a:pPr>
                        <a:defRPr sz="1000">
                          <a:solidFill>
                            <a:srgbClr val="374151"/>
                          </a:solidFill>
                          <a:latin typeface="Calibri"/>
                        </a:defRPr>
                      </a:pPr>
                      <a:r>
                        <a:t>Demonstrated via live binary execution</a:t>
                      </a:r>
                    </a:p>
                  </a:txBody>
                  <a:tcPr>
                    <a:solidFill>
                      <a:srgbClr val="FFFFFF"/>
                    </a:solidFill>
                  </a:tcPr>
                </a:tc>
              </a:tr>
              <a:tr h="692331">
                <a:tc>
                  <a:txBody>
                    <a:bodyPr tIns="64008" bIns="64008"/>
                    <a:lstStyle/>
                    <a:p>
                      <a:pPr>
                        <a:defRPr sz="1000">
                          <a:solidFill>
                            <a:srgbClr val="374151"/>
                          </a:solidFill>
                          <a:latin typeface="Calibri"/>
                        </a:defRPr>
                      </a:pPr>
                      <a:r>
                        <a:t>Technical Correctness</a:t>
                      </a:r>
                    </a:p>
                  </a:txBody>
                  <a:tcPr>
                    <a:solidFill>
                      <a:srgbClr val="F9FAFB"/>
                    </a:solidFill>
                  </a:tcPr>
                </a:tc>
                <a:tc>
                  <a:txBody>
                    <a:bodyPr tIns="64008" bIns="64008"/>
                    <a:lstStyle/>
                    <a:p>
                      <a:pPr>
                        <a:defRPr sz="1000">
                          <a:solidFill>
                            <a:srgbClr val="374151"/>
                          </a:solidFill>
                          <a:latin typeface="Calibri"/>
                        </a:defRPr>
                      </a:pPr>
                      <a:r>
                        <a:t>5 Marks</a:t>
                      </a:r>
                    </a:p>
                  </a:txBody>
                  <a:tcPr>
                    <a:solidFill>
                      <a:srgbClr val="F9FAFB"/>
                    </a:solidFill>
                  </a:tcPr>
                </a:tc>
                <a:tc>
                  <a:txBody>
                    <a:bodyPr tIns="64008" bIns="64008"/>
                    <a:lstStyle/>
                    <a:p>
                      <a:pPr>
                        <a:defRPr sz="1000">
                          <a:solidFill>
                            <a:srgbClr val="374151"/>
                          </a:solidFill>
                          <a:latin typeface="Calibri"/>
                        </a:defRPr>
                      </a:pPr>
                      <a:r>
                        <a:t>Accurate LALR(1) parsing, type checking, operator tree construction, and CSV query evaluation verified across 26 automated tests.</a:t>
                      </a:r>
                    </a:p>
                  </a:txBody>
                  <a:tcPr>
                    <a:solidFill>
                      <a:srgbClr val="F9FAFB"/>
                    </a:solidFill>
                  </a:tcPr>
                </a:tc>
                <a:tc>
                  <a:txBody>
                    <a:bodyPr tIns="64008" bIns="64008"/>
                    <a:lstStyle/>
                    <a:p>
                      <a:pPr>
                        <a:defRPr sz="1000">
                          <a:solidFill>
                            <a:srgbClr val="374151"/>
                          </a:solidFill>
                          <a:latin typeface="Calibri"/>
                        </a:defRPr>
                      </a:pPr>
                      <a:r>
                        <a:t>Verified: 26/26 tests passing (100%)</a:t>
                      </a:r>
                    </a:p>
                  </a:txBody>
                  <a:tcPr>
                    <a:solidFill>
                      <a:srgbClr val="F9FAFB"/>
                    </a:solidFill>
                  </a:tcPr>
                </a:tc>
              </a:tr>
              <a:tr h="692331">
                <a:tc>
                  <a:txBody>
                    <a:bodyPr tIns="64008" bIns="64008"/>
                    <a:lstStyle/>
                    <a:p>
                      <a:pPr>
                        <a:defRPr sz="1000">
                          <a:solidFill>
                            <a:srgbClr val="374151"/>
                          </a:solidFill>
                          <a:latin typeface="Calibri"/>
                        </a:defRPr>
                      </a:pPr>
                      <a:r>
                        <a:t>Compiler Concept Application</a:t>
                      </a:r>
                    </a:p>
                  </a:txBody>
                  <a:tcPr>
                    <a:solidFill>
                      <a:srgbClr val="FFFFFF"/>
                    </a:solidFill>
                  </a:tcPr>
                </a:tc>
                <a:tc>
                  <a:txBody>
                    <a:bodyPr tIns="64008" bIns="64008"/>
                    <a:lstStyle/>
                    <a:p>
                      <a:pPr>
                        <a:defRPr sz="1000">
                          <a:solidFill>
                            <a:srgbClr val="374151"/>
                          </a:solidFill>
                          <a:latin typeface="Calibri"/>
                        </a:defRPr>
                      </a:pPr>
                      <a:r>
                        <a:t>4 Marks</a:t>
                      </a:r>
                    </a:p>
                  </a:txBody>
                  <a:tcPr>
                    <a:solidFill>
                      <a:srgbClr val="FFFFFF"/>
                    </a:solidFill>
                  </a:tcPr>
                </a:tc>
                <a:tc>
                  <a:txBody>
                    <a:bodyPr tIns="64008" bIns="64008"/>
                    <a:lstStyle/>
                    <a:p>
                      <a:pPr>
                        <a:defRPr sz="1000">
                          <a:solidFill>
                            <a:srgbClr val="374151"/>
                          </a:solidFill>
                          <a:latin typeface="Calibri"/>
                        </a:defRPr>
                      </a:pPr>
                      <a:r>
                        <a:t>Application of DFAs (Flex), context-free grammars (Bison), AST, symbol tables, intermediate relational code, and algebraic rewrites.</a:t>
                      </a:r>
                    </a:p>
                  </a:txBody>
                  <a:tcPr>
                    <a:solidFill>
                      <a:srgbClr val="FFFFFF"/>
                    </a:solidFill>
                  </a:tcPr>
                </a:tc>
                <a:tc>
                  <a:txBody>
                    <a:bodyPr tIns="64008" bIns="64008"/>
                    <a:lstStyle/>
                    <a:p>
                      <a:pPr>
                        <a:defRPr sz="1000">
                          <a:solidFill>
                            <a:srgbClr val="374151"/>
                          </a:solidFill>
                          <a:latin typeface="Calibri"/>
                        </a:defRPr>
                      </a:pPr>
                      <a:r>
                        <a:t>Demonstrated across 10 compiler stages</a:t>
                      </a:r>
                    </a:p>
                  </a:txBody>
                  <a:tcPr>
                    <a:solidFill>
                      <a:srgbClr val="FFFFFF"/>
                    </a:solidFill>
                  </a:tcPr>
                </a:tc>
              </a:tr>
              <a:tr h="692331">
                <a:tc>
                  <a:txBody>
                    <a:bodyPr tIns="64008" bIns="64008"/>
                    <a:lstStyle/>
                    <a:p>
                      <a:pPr>
                        <a:defRPr sz="1000">
                          <a:solidFill>
                            <a:srgbClr val="374151"/>
                          </a:solidFill>
                          <a:latin typeface="Calibri"/>
                        </a:defRPr>
                      </a:pPr>
                      <a:r>
                        <a:t>Code Quality &amp; Modularity</a:t>
                      </a:r>
                    </a:p>
                  </a:txBody>
                  <a:tcPr>
                    <a:solidFill>
                      <a:srgbClr val="F9FAFB"/>
                    </a:solidFill>
                  </a:tcPr>
                </a:tc>
                <a:tc>
                  <a:txBody>
                    <a:bodyPr tIns="64008" bIns="64008"/>
                    <a:lstStyle/>
                    <a:p>
                      <a:pPr>
                        <a:defRPr sz="1000">
                          <a:solidFill>
                            <a:srgbClr val="374151"/>
                          </a:solidFill>
                          <a:latin typeface="Calibri"/>
                        </a:defRPr>
                      </a:pPr>
                      <a:r>
                        <a:t>3 Marks</a:t>
                      </a:r>
                    </a:p>
                  </a:txBody>
                  <a:tcPr>
                    <a:solidFill>
                      <a:srgbClr val="F9FAFB"/>
                    </a:solidFill>
                  </a:tcPr>
                </a:tc>
                <a:tc>
                  <a:txBody>
                    <a:bodyPr tIns="64008" bIns="64008"/>
                    <a:lstStyle/>
                    <a:p>
                      <a:pPr>
                        <a:defRPr sz="1000">
                          <a:solidFill>
                            <a:srgbClr val="374151"/>
                          </a:solidFill>
                          <a:latin typeface="Calibri"/>
                        </a:defRPr>
                      </a:pPr>
                      <a:r>
                        <a:t>Modular C++17 header/source separation, clean OOP inheritance, proper memory cleanup, and typed React components.</a:t>
                      </a:r>
                    </a:p>
                  </a:txBody>
                  <a:tcPr>
                    <a:solidFill>
                      <a:srgbClr val="F9FAFB"/>
                    </a:solidFill>
                  </a:tcPr>
                </a:tc>
                <a:tc>
                  <a:txBody>
                    <a:bodyPr tIns="64008" bIns="64008"/>
                    <a:lstStyle/>
                    <a:p>
                      <a:pPr>
                        <a:defRPr sz="1000">
                          <a:solidFill>
                            <a:srgbClr val="374151"/>
                          </a:solidFill>
                          <a:latin typeface="Calibri"/>
                        </a:defRPr>
                      </a:pPr>
                      <a:r>
                        <a:t>Verified in source repository</a:t>
                      </a:r>
                    </a:p>
                  </a:txBody>
                  <a:tcPr>
                    <a:solidFill>
                      <a:srgbClr val="F9FAFB"/>
                    </a:solidFill>
                  </a:tcPr>
                </a:tc>
              </a:tr>
              <a:tr h="692331">
                <a:tc>
                  <a:txBody>
                    <a:bodyPr tIns="64008" bIns="64008"/>
                    <a:lstStyle/>
                    <a:p>
                      <a:pPr>
                        <a:defRPr sz="1000">
                          <a:solidFill>
                            <a:srgbClr val="374151"/>
                          </a:solidFill>
                          <a:latin typeface="Calibri"/>
                        </a:defRPr>
                      </a:pPr>
                      <a:r>
                        <a:t>Testing &amp; Test Cases</a:t>
                      </a:r>
                    </a:p>
                  </a:txBody>
                  <a:tcPr>
                    <a:solidFill>
                      <a:srgbClr val="FFFFFF"/>
                    </a:solidFill>
                  </a:tcPr>
                </a:tc>
                <a:tc>
                  <a:txBody>
                    <a:bodyPr tIns="64008" bIns="64008"/>
                    <a:lstStyle/>
                    <a:p>
                      <a:pPr>
                        <a:defRPr sz="1000">
                          <a:solidFill>
                            <a:srgbClr val="374151"/>
                          </a:solidFill>
                          <a:latin typeface="Calibri"/>
                        </a:defRPr>
                      </a:pPr>
                      <a:r>
                        <a:t>3 Marks</a:t>
                      </a:r>
                    </a:p>
                  </a:txBody>
                  <a:tcPr>
                    <a:solidFill>
                      <a:srgbClr val="FFFFFF"/>
                    </a:solidFill>
                  </a:tcPr>
                </a:tc>
                <a:tc>
                  <a:txBody>
                    <a:bodyPr tIns="64008" bIns="64008"/>
                    <a:lstStyle/>
                    <a:p>
                      <a:pPr>
                        <a:defRPr sz="1000">
                          <a:solidFill>
                            <a:srgbClr val="374151"/>
                          </a:solidFill>
                          <a:latin typeface="Calibri"/>
                        </a:defRPr>
                      </a:pPr>
                      <a:r>
                        <a:t>Systematic test suite (run_tests.ps1) testing projections, filters, logic, ordering, limits, and stage-specific error traps.</a:t>
                      </a:r>
                    </a:p>
                  </a:txBody>
                  <a:tcPr>
                    <a:solidFill>
                      <a:srgbClr val="FFFFFF"/>
                    </a:solidFill>
                  </a:tcPr>
                </a:tc>
                <a:tc>
                  <a:txBody>
                    <a:bodyPr tIns="64008" bIns="64008"/>
                    <a:lstStyle/>
                    <a:p>
                      <a:pPr>
                        <a:defRPr sz="1000">
                          <a:solidFill>
                            <a:srgbClr val="374151"/>
                          </a:solidFill>
                          <a:latin typeface="Calibri"/>
                        </a:defRPr>
                      </a:pPr>
                      <a:r>
                        <a:t>Demonstrated with test suite execution</a:t>
                      </a:r>
                    </a:p>
                  </a:txBody>
                  <a:tcPr>
                    <a:solidFill>
                      <a:srgbClr val="FFFFFF"/>
                    </a:solidFill>
                  </a:tcPr>
                </a:tc>
              </a:tr>
              <a:tr h="692334">
                <a:tc>
                  <a:txBody>
                    <a:bodyPr tIns="64008" bIns="64008"/>
                    <a:lstStyle/>
                    <a:p>
                      <a:pPr>
                        <a:defRPr sz="1000">
                          <a:solidFill>
                            <a:srgbClr val="374151"/>
                          </a:solidFill>
                          <a:latin typeface="Calibri"/>
                        </a:defRPr>
                      </a:pPr>
                      <a:r>
                        <a:t>Individual Understanding</a:t>
                      </a:r>
                    </a:p>
                  </a:txBody>
                  <a:tcPr>
                    <a:solidFill>
                      <a:srgbClr val="F9FAFB"/>
                    </a:solidFill>
                  </a:tcPr>
                </a:tc>
                <a:tc>
                  <a:txBody>
                    <a:bodyPr tIns="64008" bIns="64008"/>
                    <a:lstStyle/>
                    <a:p>
                      <a:pPr>
                        <a:defRPr sz="1000">
                          <a:solidFill>
                            <a:srgbClr val="374151"/>
                          </a:solidFill>
                          <a:latin typeface="Calibri"/>
                        </a:defRPr>
                      </a:pPr>
                      <a:r>
                        <a:t>3 Marks</a:t>
                      </a:r>
                    </a:p>
                  </a:txBody>
                  <a:tcPr>
                    <a:solidFill>
                      <a:srgbClr val="F9FAFB"/>
                    </a:solidFill>
                  </a:tcPr>
                </a:tc>
                <a:tc>
                  <a:txBody>
                    <a:bodyPr tIns="64008" bIns="64008"/>
                    <a:lstStyle/>
                    <a:p>
                      <a:pPr>
                        <a:defRPr sz="1000">
                          <a:solidFill>
                            <a:srgbClr val="374151"/>
                          </a:solidFill>
                          <a:latin typeface="Calibri"/>
                        </a:defRPr>
                      </a:pPr>
                      <a:r>
                        <a:t>Thorough comprehension of all compiler phases, AST traversal, relational algebra mapping, and oral viva readiness.</a:t>
                      </a:r>
                    </a:p>
                  </a:txBody>
                  <a:tcPr>
                    <a:solidFill>
                      <a:srgbClr val="F9FAFB"/>
                    </a:solidFill>
                  </a:tcPr>
                </a:tc>
                <a:tc>
                  <a:txBody>
                    <a:bodyPr tIns="64008" bIns="64008"/>
                    <a:lstStyle/>
                    <a:p>
                      <a:pPr>
                        <a:defRPr sz="1000">
                          <a:solidFill>
                            <a:srgbClr val="374151"/>
                          </a:solidFill>
                          <a:latin typeface="Calibri"/>
                        </a:defRPr>
                      </a:pPr>
                      <a:r>
                        <a:t>Demonstrated during oral viva review</a:t>
                      </a:r>
                    </a:p>
                  </a:txBody>
                  <a:tcPr>
                    <a:solidFill>
                      <a:srgbClr val="F9FAF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LITERATURE REVIEW</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Related Academic Work in Compiler Education (2020–2025)</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17 / 21</a:t>
            </a:r>
          </a:p>
        </p:txBody>
      </p:sp>
      <p:graphicFrame>
        <p:nvGraphicFramePr>
          <p:cNvPr id="7" name="Table 6"/>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011680"/>
                <a:gridCol w="1463040"/>
                <a:gridCol w="3962095"/>
                <a:gridCol w="3291840"/>
              </a:tblGrid>
              <a:tr h="692331">
                <a:tc>
                  <a:txBody>
                    <a:bodyPr tIns="73152" bIns="73152"/>
                    <a:lstStyle/>
                    <a:p>
                      <a:pPr>
                        <a:defRPr sz="1050" b="1">
                          <a:solidFill>
                            <a:srgbClr val="111827"/>
                          </a:solidFill>
                          <a:latin typeface="Calibri"/>
                        </a:defRPr>
                      </a:pPr>
                      <a:r>
                        <a:t>Authors &amp; Year</a:t>
                      </a:r>
                    </a:p>
                  </a:txBody>
                  <a:tcPr>
                    <a:solidFill>
                      <a:srgbClr val="F3F4F6"/>
                    </a:solidFill>
                  </a:tcPr>
                </a:tc>
                <a:tc>
                  <a:txBody>
                    <a:bodyPr tIns="73152" bIns="73152"/>
                    <a:lstStyle/>
                    <a:p>
                      <a:pPr>
                        <a:defRPr sz="1050" b="1">
                          <a:solidFill>
                            <a:srgbClr val="111827"/>
                          </a:solidFill>
                          <a:latin typeface="Calibri"/>
                        </a:defRPr>
                      </a:pPr>
                      <a:r>
                        <a:t>Venue / Journal</a:t>
                      </a:r>
                    </a:p>
                  </a:txBody>
                  <a:tcPr>
                    <a:solidFill>
                      <a:srgbClr val="F3F4F6"/>
                    </a:solidFill>
                  </a:tcPr>
                </a:tc>
                <a:tc>
                  <a:txBody>
                    <a:bodyPr tIns="73152" bIns="73152"/>
                    <a:lstStyle/>
                    <a:p>
                      <a:pPr>
                        <a:defRPr sz="1050" b="1">
                          <a:solidFill>
                            <a:srgbClr val="111827"/>
                          </a:solidFill>
                          <a:latin typeface="Calibri"/>
                        </a:defRPr>
                      </a:pPr>
                      <a:r>
                        <a:t>Key Findings &amp; Contribution</a:t>
                      </a:r>
                    </a:p>
                  </a:txBody>
                  <a:tcPr>
                    <a:solidFill>
                      <a:srgbClr val="F3F4F6"/>
                    </a:solidFill>
                  </a:tcPr>
                </a:tc>
                <a:tc>
                  <a:txBody>
                    <a:bodyPr tIns="73152" bIns="73152"/>
                    <a:lstStyle/>
                    <a:p>
                      <a:pPr>
                        <a:defRPr sz="1050" b="1">
                          <a:solidFill>
                            <a:srgbClr val="111827"/>
                          </a:solidFill>
                          <a:latin typeface="Calibri"/>
                        </a:defRPr>
                      </a:pPr>
                      <a:r>
                        <a:t>Comparison with SQLens</a:t>
                      </a:r>
                    </a:p>
                  </a:txBody>
                  <a:tcPr>
                    <a:solidFill>
                      <a:srgbClr val="F3F4F6"/>
                    </a:solidFill>
                  </a:tcPr>
                </a:tc>
              </a:tr>
              <a:tr h="692331">
                <a:tc>
                  <a:txBody>
                    <a:bodyPr tIns="64008" bIns="64008"/>
                    <a:lstStyle/>
                    <a:p>
                      <a:pPr>
                        <a:defRPr sz="1000">
                          <a:solidFill>
                            <a:srgbClr val="374151"/>
                          </a:solidFill>
                          <a:latin typeface="Calibri"/>
                        </a:defRPr>
                      </a:pPr>
                      <a:r>
                        <a:t>Stamenković et al. (2020)</a:t>
                      </a:r>
                    </a:p>
                  </a:txBody>
                  <a:tcPr>
                    <a:solidFill>
                      <a:srgbClr val="FFFFFF"/>
                    </a:solidFill>
                  </a:tcPr>
                </a:tc>
                <a:tc>
                  <a:txBody>
                    <a:bodyPr tIns="64008" bIns="64008"/>
                    <a:lstStyle/>
                    <a:p>
                      <a:pPr>
                        <a:defRPr sz="1000">
                          <a:solidFill>
                            <a:srgbClr val="374151"/>
                          </a:solidFill>
                          <a:latin typeface="Calibri"/>
                        </a:defRPr>
                      </a:pPr>
                      <a:r>
                        <a:t>CAEE (Wiley)</a:t>
                      </a:r>
                    </a:p>
                  </a:txBody>
                  <a:tcPr>
                    <a:solidFill>
                      <a:srgbClr val="FFFFFF"/>
                    </a:solidFill>
                  </a:tcPr>
                </a:tc>
                <a:tc>
                  <a:txBody>
                    <a:bodyPr tIns="64008" bIns="64008"/>
                    <a:lstStyle/>
                    <a:p>
                      <a:pPr>
                        <a:defRPr sz="1000">
                          <a:solidFill>
                            <a:srgbClr val="374151"/>
                          </a:solidFill>
                          <a:latin typeface="Calibri"/>
                        </a:defRPr>
                      </a:pPr>
                      <a:r>
                        <a:t>Evaluated 15 compiler simulation tools; identified lack of unified end-to-end visualization.</a:t>
                      </a:r>
                    </a:p>
                  </a:txBody>
                  <a:tcPr>
                    <a:solidFill>
                      <a:srgbClr val="FFFFFF"/>
                    </a:solidFill>
                  </a:tcPr>
                </a:tc>
                <a:tc>
                  <a:txBody>
                    <a:bodyPr tIns="64008" bIns="64008"/>
                    <a:lstStyle/>
                    <a:p>
                      <a:pPr>
                        <a:defRPr sz="1000">
                          <a:solidFill>
                            <a:srgbClr val="374151"/>
                          </a:solidFill>
                          <a:latin typeface="Calibri"/>
                        </a:defRPr>
                      </a:pPr>
                      <a:r>
                        <a:t>SQLens provides a unified 10-stage pipeline with web visualization.</a:t>
                      </a:r>
                    </a:p>
                  </a:txBody>
                  <a:tcPr>
                    <a:solidFill>
                      <a:srgbClr val="FFFFFF"/>
                    </a:solidFill>
                  </a:tcPr>
                </a:tc>
              </a:tr>
              <a:tr h="692331">
                <a:tc>
                  <a:txBody>
                    <a:bodyPr tIns="64008" bIns="64008"/>
                    <a:lstStyle/>
                    <a:p>
                      <a:pPr>
                        <a:defRPr sz="1000">
                          <a:solidFill>
                            <a:srgbClr val="374151"/>
                          </a:solidFill>
                          <a:latin typeface="Calibri"/>
                        </a:defRPr>
                      </a:pPr>
                      <a:r>
                        <a:t>del Vado Vírseda (2021)</a:t>
                      </a:r>
                    </a:p>
                  </a:txBody>
                  <a:tcPr>
                    <a:solidFill>
                      <a:srgbClr val="F9FAFB"/>
                    </a:solidFill>
                  </a:tcPr>
                </a:tc>
                <a:tc>
                  <a:txBody>
                    <a:bodyPr tIns="64008" bIns="64008"/>
                    <a:lstStyle/>
                    <a:p>
                      <a:pPr>
                        <a:defRPr sz="1000">
                          <a:solidFill>
                            <a:srgbClr val="374151"/>
                          </a:solidFill>
                          <a:latin typeface="Calibri"/>
                        </a:defRPr>
                      </a:pPr>
                      <a:r>
                        <a:t>ACM ITiCSE</a:t>
                      </a:r>
                    </a:p>
                  </a:txBody>
                  <a:tcPr>
                    <a:solidFill>
                      <a:srgbClr val="F9FAFB"/>
                    </a:solidFill>
                  </a:tcPr>
                </a:tc>
                <a:tc>
                  <a:txBody>
                    <a:bodyPr tIns="64008" bIns="64008"/>
                    <a:lstStyle/>
                    <a:p>
                      <a:pPr>
                        <a:defRPr sz="1000">
                          <a:solidFill>
                            <a:srgbClr val="374151"/>
                          </a:solidFill>
                          <a:latin typeface="Calibri"/>
                        </a:defRPr>
                      </a:pPr>
                      <a:r>
                        <a:t>Proposed learning compiler design from implementation to theory using educational grammars.</a:t>
                      </a:r>
                    </a:p>
                  </a:txBody>
                  <a:tcPr>
                    <a:solidFill>
                      <a:srgbClr val="F9FAFB"/>
                    </a:solidFill>
                  </a:tcPr>
                </a:tc>
                <a:tc>
                  <a:txBody>
                    <a:bodyPr tIns="64008" bIns="64008"/>
                    <a:lstStyle/>
                    <a:p>
                      <a:pPr>
                        <a:defRPr sz="1000">
                          <a:solidFill>
                            <a:srgbClr val="374151"/>
                          </a:solidFill>
                          <a:latin typeface="Calibri"/>
                        </a:defRPr>
                      </a:pPr>
                      <a:r>
                        <a:t>SQLens adopts this implementation-first approach for relational SQL.</a:t>
                      </a:r>
                    </a:p>
                  </a:txBody>
                  <a:tcPr>
                    <a:solidFill>
                      <a:srgbClr val="F9FAFB"/>
                    </a:solidFill>
                  </a:tcPr>
                </a:tc>
              </a:tr>
              <a:tr h="692331">
                <a:tc>
                  <a:txBody>
                    <a:bodyPr tIns="64008" bIns="64008"/>
                    <a:lstStyle/>
                    <a:p>
                      <a:pPr>
                        <a:defRPr sz="1000">
                          <a:solidFill>
                            <a:srgbClr val="374151"/>
                          </a:solidFill>
                          <a:latin typeface="Calibri"/>
                        </a:defRPr>
                      </a:pPr>
                      <a:r>
                        <a:t>del Vado Vírseda (2022)</a:t>
                      </a:r>
                    </a:p>
                  </a:txBody>
                  <a:tcPr>
                    <a:solidFill>
                      <a:srgbClr val="FFFFFF"/>
                    </a:solidFill>
                  </a:tcPr>
                </a:tc>
                <a:tc>
                  <a:txBody>
                    <a:bodyPr tIns="64008" bIns="64008"/>
                    <a:lstStyle/>
                    <a:p>
                      <a:pPr>
                        <a:defRPr sz="1000">
                          <a:solidFill>
                            <a:srgbClr val="374151"/>
                          </a:solidFill>
                          <a:latin typeface="Calibri"/>
                        </a:defRPr>
                      </a:pPr>
                      <a:r>
                        <a:t>ACM SIGCSE</a:t>
                      </a:r>
                    </a:p>
                  </a:txBody>
                  <a:tcPr>
                    <a:solidFill>
                      <a:srgbClr val="FFFFFF"/>
                    </a:solidFill>
                  </a:tcPr>
                </a:tc>
                <a:tc>
                  <a:txBody>
                    <a:bodyPr tIns="64008" bIns="64008"/>
                    <a:lstStyle/>
                    <a:p>
                      <a:pPr>
                        <a:defRPr sz="1000">
                          <a:solidFill>
                            <a:srgbClr val="374151"/>
                          </a:solidFill>
                          <a:latin typeface="Calibri"/>
                        </a:defRPr>
                      </a:pPr>
                      <a:r>
                        <a:t>Developed ITT interactive tutoring tool for visualizing compiler theory from implementation.</a:t>
                      </a:r>
                    </a:p>
                  </a:txBody>
                  <a:tcPr>
                    <a:solidFill>
                      <a:srgbClr val="FFFFFF"/>
                    </a:solidFill>
                  </a:tcPr>
                </a:tc>
                <a:tc>
                  <a:txBody>
                    <a:bodyPr tIns="64008" bIns="64008"/>
                    <a:lstStyle/>
                    <a:p>
                      <a:pPr>
                        <a:defRPr sz="1000">
                          <a:solidFill>
                            <a:srgbClr val="374151"/>
                          </a:solidFill>
                          <a:latin typeface="Calibri"/>
                        </a:defRPr>
                      </a:pPr>
                      <a:r>
                        <a:t>SQLens extends tutoring concepts to database query compilers and relational IR.</a:t>
                      </a:r>
                    </a:p>
                  </a:txBody>
                  <a:tcPr>
                    <a:solidFill>
                      <a:srgbClr val="FFFFFF"/>
                    </a:solidFill>
                  </a:tcPr>
                </a:tc>
              </a:tr>
              <a:tr h="692331">
                <a:tc>
                  <a:txBody>
                    <a:bodyPr tIns="64008" bIns="64008"/>
                    <a:lstStyle/>
                    <a:p>
                      <a:pPr>
                        <a:defRPr sz="1000">
                          <a:solidFill>
                            <a:srgbClr val="374151"/>
                          </a:solidFill>
                          <a:latin typeface="Calibri"/>
                        </a:defRPr>
                      </a:pPr>
                      <a:r>
                        <a:t>Hiranishi et al. (2022)</a:t>
                      </a:r>
                    </a:p>
                  </a:txBody>
                  <a:tcPr>
                    <a:solidFill>
                      <a:srgbClr val="F9FAFB"/>
                    </a:solidFill>
                  </a:tcPr>
                </a:tc>
                <a:tc>
                  <a:txBody>
                    <a:bodyPr tIns="64008" bIns="64008"/>
                    <a:lstStyle/>
                    <a:p>
                      <a:pPr>
                        <a:defRPr sz="1000">
                          <a:solidFill>
                            <a:srgbClr val="374151"/>
                          </a:solidFill>
                          <a:latin typeface="Calibri"/>
                        </a:defRPr>
                      </a:pPr>
                      <a:r>
                        <a:t>IEEJ Trans. EIS</a:t>
                      </a:r>
                    </a:p>
                  </a:txBody>
                  <a:tcPr>
                    <a:solidFill>
                      <a:srgbClr val="F9FAFB"/>
                    </a:solidFill>
                  </a:tcPr>
                </a:tc>
                <a:tc>
                  <a:txBody>
                    <a:bodyPr tIns="64008" bIns="64008"/>
                    <a:lstStyle/>
                    <a:p>
                      <a:pPr>
                        <a:defRPr sz="1000">
                          <a:solidFill>
                            <a:srgbClr val="374151"/>
                          </a:solidFill>
                          <a:latin typeface="Calibri"/>
                        </a:defRPr>
                      </a:pPr>
                      <a:r>
                        <a:t>Developed web-based visual compiler for computer education to visualize execution flow.</a:t>
                      </a:r>
                    </a:p>
                  </a:txBody>
                  <a:tcPr>
                    <a:solidFill>
                      <a:srgbClr val="F9FAFB"/>
                    </a:solidFill>
                  </a:tcPr>
                </a:tc>
                <a:tc>
                  <a:txBody>
                    <a:bodyPr tIns="64008" bIns="64008"/>
                    <a:lstStyle/>
                    <a:p>
                      <a:pPr>
                        <a:defRPr sz="1000">
                          <a:solidFill>
                            <a:srgbClr val="374151"/>
                          </a:solidFill>
                          <a:latin typeface="Calibri"/>
                        </a:defRPr>
                      </a:pPr>
                      <a:r>
                        <a:t>SQLens pairs web visualization with a native compiled C++ core engine.</a:t>
                      </a:r>
                    </a:p>
                  </a:txBody>
                  <a:tcPr>
                    <a:solidFill>
                      <a:srgbClr val="F9FAFB"/>
                    </a:solidFill>
                  </a:tcPr>
                </a:tc>
              </a:tr>
              <a:tr h="692331">
                <a:tc>
                  <a:txBody>
                    <a:bodyPr tIns="64008" bIns="64008"/>
                    <a:lstStyle/>
                    <a:p>
                      <a:pPr>
                        <a:defRPr sz="1000">
                          <a:solidFill>
                            <a:srgbClr val="374151"/>
                          </a:solidFill>
                          <a:latin typeface="Calibri"/>
                        </a:defRPr>
                      </a:pPr>
                      <a:r>
                        <a:t>Stamenković &amp; Jovanović (2024)</a:t>
                      </a:r>
                    </a:p>
                  </a:txBody>
                  <a:tcPr>
                    <a:solidFill>
                      <a:srgbClr val="FFFFFF"/>
                    </a:solidFill>
                  </a:tcPr>
                </a:tc>
                <a:tc>
                  <a:txBody>
                    <a:bodyPr tIns="64008" bIns="64008"/>
                    <a:lstStyle/>
                    <a:p>
                      <a:pPr>
                        <a:defRPr sz="1000">
                          <a:solidFill>
                            <a:srgbClr val="374151"/>
                          </a:solidFill>
                          <a:latin typeface="Calibri"/>
                        </a:defRPr>
                      </a:pPr>
                      <a:r>
                        <a:t>IEEE TLT</a:t>
                      </a:r>
                    </a:p>
                  </a:txBody>
                  <a:tcPr>
                    <a:solidFill>
                      <a:srgbClr val="FFFFFF"/>
                    </a:solidFill>
                  </a:tcPr>
                </a:tc>
                <a:tc>
                  <a:txBody>
                    <a:bodyPr tIns="64008" bIns="64008"/>
                    <a:lstStyle/>
                    <a:p>
                      <a:pPr>
                        <a:defRPr sz="1000">
                          <a:solidFill>
                            <a:srgbClr val="374151"/>
                          </a:solidFill>
                          <a:latin typeface="Calibri"/>
                        </a:defRPr>
                      </a:pPr>
                      <a:r>
                        <a:t>Demonstrated that web educational compiler systems significantly improve student engagement.</a:t>
                      </a:r>
                    </a:p>
                  </a:txBody>
                  <a:tcPr>
                    <a:solidFill>
                      <a:srgbClr val="FFFFFF"/>
                    </a:solidFill>
                  </a:tcPr>
                </a:tc>
                <a:tc>
                  <a:txBody>
                    <a:bodyPr tIns="64008" bIns="64008"/>
                    <a:lstStyle/>
                    <a:p>
                      <a:pPr>
                        <a:defRPr sz="1000">
                          <a:solidFill>
                            <a:srgbClr val="374151"/>
                          </a:solidFill>
                          <a:latin typeface="Calibri"/>
                        </a:defRPr>
                      </a:pPr>
                      <a:r>
                        <a:t>SQLens confirms the efficacy of browser-accessible interactive compiler tools.</a:t>
                      </a:r>
                    </a:p>
                  </a:txBody>
                  <a:tcPr>
                    <a:solidFill>
                      <a:srgbClr val="FFFFFF"/>
                    </a:solidFill>
                  </a:tcPr>
                </a:tc>
              </a:tr>
              <a:tr h="692334">
                <a:tc>
                  <a:txBody>
                    <a:bodyPr tIns="64008" bIns="64008"/>
                    <a:lstStyle/>
                    <a:p>
                      <a:pPr>
                        <a:defRPr sz="1000">
                          <a:solidFill>
                            <a:srgbClr val="374151"/>
                          </a:solidFill>
                          <a:latin typeface="Calibri"/>
                        </a:defRPr>
                      </a:pPr>
                      <a:r>
                        <a:t>Koitz-Hristov et al. (2025)</a:t>
                      </a:r>
                    </a:p>
                  </a:txBody>
                  <a:tcPr>
                    <a:solidFill>
                      <a:srgbClr val="F9FAFB"/>
                    </a:solidFill>
                  </a:tcPr>
                </a:tc>
                <a:tc>
                  <a:txBody>
                    <a:bodyPr tIns="64008" bIns="64008"/>
                    <a:lstStyle/>
                    <a:p>
                      <a:pPr>
                        <a:defRPr sz="1000">
                          <a:solidFill>
                            <a:srgbClr val="374151"/>
                          </a:solidFill>
                          <a:latin typeface="Calibri"/>
                        </a:defRPr>
                      </a:pPr>
                      <a:r>
                        <a:t>ACM SIGCSE TS</a:t>
                      </a:r>
                    </a:p>
                  </a:txBody>
                  <a:tcPr>
                    <a:solidFill>
                      <a:srgbClr val="F9FAFB"/>
                    </a:solidFill>
                  </a:tcPr>
                </a:tc>
                <a:tc>
                  <a:txBody>
                    <a:bodyPr tIns="64008" bIns="64008"/>
                    <a:lstStyle/>
                    <a:p>
                      <a:pPr>
                        <a:defRPr sz="1000">
                          <a:solidFill>
                            <a:srgbClr val="374151"/>
                          </a:solidFill>
                          <a:latin typeface="Calibri"/>
                        </a:defRPr>
                      </a:pPr>
                      <a:r>
                        <a:t>Introduced VisOpt for visualizing compiler optimization passes in computer science education.</a:t>
                      </a:r>
                    </a:p>
                  </a:txBody>
                  <a:tcPr>
                    <a:solidFill>
                      <a:srgbClr val="F9FAFB"/>
                    </a:solidFill>
                  </a:tcPr>
                </a:tc>
                <a:tc>
                  <a:txBody>
                    <a:bodyPr tIns="64008" bIns="64008"/>
                    <a:lstStyle/>
                    <a:p>
                      <a:pPr>
                        <a:defRPr sz="1000">
                          <a:solidFill>
                            <a:srgbClr val="374151"/>
                          </a:solidFill>
                          <a:latin typeface="Calibri"/>
                        </a:defRPr>
                      </a:pPr>
                      <a:r>
                        <a:t>SQLens focuses on relational query optimizations (filter pushdown &amp; late projection).</a:t>
                      </a:r>
                    </a:p>
                  </a:txBody>
                  <a:tcPr>
                    <a:solidFill>
                      <a:srgbClr val="F9FA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PROJECT CONTRIBUTION</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What Distinguishes SQLens? An Honest Assessment</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18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What SQLens Does NOT Claim</a:t>
            </a:r>
          </a:p>
          <a:p>
            <a:pPr>
              <a:spcBef>
                <a:spcPts val="300"/>
              </a:spcBef>
              <a:defRPr sz="1000">
                <a:solidFill>
                  <a:srgbClr val="6B7280"/>
                </a:solidFill>
                <a:latin typeface="Calibri"/>
              </a:defRPr>
            </a:pPr>
            <a:r>
              <a:t>Realistic Academic Framing</a:t>
            </a:r>
          </a:p>
          <a:p>
            <a:pPr>
              <a:spcAft>
                <a:spcPts val="1000"/>
              </a:spcAft>
              <a:defRPr sz="1100">
                <a:latin typeface="Calibri"/>
              </a:defRPr>
            </a:pPr>
            <a:r>
              <a:rPr b="1">
                <a:solidFill>
                  <a:srgbClr val="111827"/>
                </a:solidFill>
              </a:rPr>
              <a:t>•  Not a Novel Pedagogical Invention: </a:t>
            </a:r>
            <a:r>
              <a:rPr b="0">
                <a:solidFill>
                  <a:srgbClr val="374151"/>
                </a:solidFill>
              </a:rPr>
              <a:t>Visual compiler simulators and educational tools have been studied since the early 2000s; visualization itself is not a new research discovery.</a:t>
            </a:r>
          </a:p>
          <a:p>
            <a:pPr>
              <a:spcAft>
                <a:spcPts val="1000"/>
              </a:spcAft>
              <a:defRPr sz="1100">
                <a:latin typeface="Calibri"/>
              </a:defRPr>
            </a:pPr>
            <a:r>
              <a:rPr b="1">
                <a:solidFill>
                  <a:srgbClr val="111827"/>
                </a:solidFill>
              </a:rPr>
              <a:t>•  Not a Production Database Engine: </a:t>
            </a:r>
            <a:r>
              <a:rPr b="0">
                <a:solidFill>
                  <a:srgbClr val="374151"/>
                </a:solidFill>
              </a:rPr>
              <a:t>SQLens does not attempt to replace commercial or open-source engines like PostgreSQL, DuckDB, or SQLite.</a:t>
            </a:r>
          </a:p>
          <a:p>
            <a:pPr>
              <a:spcAft>
                <a:spcPts val="1000"/>
              </a:spcAft>
              <a:defRPr sz="1100">
                <a:latin typeface="Calibri"/>
              </a:defRPr>
            </a:pPr>
            <a:r>
              <a:rPr b="1">
                <a:solidFill>
                  <a:srgbClr val="111827"/>
                </a:solidFill>
              </a:rPr>
              <a:t>•  Not a High-Performance Query Processor: </a:t>
            </a:r>
            <a:r>
              <a:rPr b="0">
                <a:solidFill>
                  <a:srgbClr val="374151"/>
                </a:solidFill>
              </a:rPr>
              <a:t>MiniSQL is designed for maximum clarity, explainability, and pedagogical inspection, not multi-threaded micro-second throughput.</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Genuine Engineering Contributions of SQLens</a:t>
            </a:r>
          </a:p>
          <a:p>
            <a:pPr>
              <a:spcBef>
                <a:spcPts val="300"/>
              </a:spcBef>
              <a:defRPr sz="1000">
                <a:solidFill>
                  <a:srgbClr val="6B7280"/>
                </a:solidFill>
                <a:latin typeface="Calibri"/>
              </a:defRPr>
            </a:pPr>
            <a:r>
              <a:t>Concrete Project Innovations</a:t>
            </a:r>
          </a:p>
          <a:p>
            <a:pPr>
              <a:spcAft>
                <a:spcPts val="800"/>
              </a:spcAft>
              <a:defRPr sz="1100">
                <a:latin typeface="Calibri"/>
              </a:defRPr>
            </a:pPr>
            <a:r>
              <a:rPr b="1">
                <a:solidFill>
                  <a:srgbClr val="111827"/>
                </a:solidFill>
              </a:rPr>
              <a:t>•  Cross-Disciplinary Synthesis: </a:t>
            </a:r>
            <a:r>
              <a:rPr b="0">
                <a:solidFill>
                  <a:srgbClr val="374151"/>
                </a:solidFill>
              </a:rPr>
              <a:t>Unifies standard Compiler Design frontend techniques (Flex/Bison) with DBMS backend concepts (Relational IR, Query Optimization, CSV Execution) in one tool.</a:t>
            </a:r>
          </a:p>
          <a:p>
            <a:pPr>
              <a:spcAft>
                <a:spcPts val="800"/>
              </a:spcAft>
              <a:defRPr sz="1100">
                <a:latin typeface="Calibri"/>
              </a:defRPr>
            </a:pPr>
            <a:r>
              <a:rPr b="1">
                <a:solidFill>
                  <a:srgbClr val="111827"/>
                </a:solidFill>
              </a:rPr>
              <a:t>•  Zero-Mock Native Architecture: </a:t>
            </a:r>
            <a:r>
              <a:rPr b="0">
                <a:solidFill>
                  <a:srgbClr val="374151"/>
                </a:solidFill>
              </a:rPr>
              <a:t>The web visualizer is 100% driven by real C++ compiled binary outputs emitted via structured JSON—no simulated mockups.</a:t>
            </a:r>
          </a:p>
          <a:p>
            <a:pPr>
              <a:spcAft>
                <a:spcPts val="800"/>
              </a:spcAft>
              <a:defRPr sz="1100">
                <a:latin typeface="Calibri"/>
              </a:defRPr>
            </a:pPr>
            <a:r>
              <a:rPr b="1">
                <a:solidFill>
                  <a:srgbClr val="111827"/>
                </a:solidFill>
              </a:rPr>
              <a:t>•  Multi-Stage Diagnostic Isolation: </a:t>
            </a:r>
            <a:r>
              <a:rPr b="0">
                <a:solidFill>
                  <a:srgbClr val="374151"/>
                </a:solidFill>
              </a:rPr>
              <a:t>Enforces strict fail-stop boundaries so students immediately recognize whether an error is Lexical, Syntactic, Semantic, or Runtime.</a:t>
            </a:r>
          </a:p>
          <a:p>
            <a:pPr>
              <a:spcAft>
                <a:spcPts val="800"/>
              </a:spcAft>
              <a:defRPr sz="1100">
                <a:latin typeface="Calibri"/>
              </a:defRPr>
            </a:pPr>
            <a:r>
              <a:rPr b="1">
                <a:solidFill>
                  <a:srgbClr val="111827"/>
                </a:solidFill>
              </a:rPr>
              <a:t>•  Relational Plan Equivalence Inspection: </a:t>
            </a:r>
            <a:r>
              <a:rPr b="0">
                <a:solidFill>
                  <a:srgbClr val="374151"/>
                </a:solidFill>
              </a:rPr>
              <a:t>Visually demonstrates canonical vs. optimized algebraic trees (e.g. Late Projection) for classroom learning.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FUTURE ROADMAP</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Future Work &amp; Computing Education Research Potential</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19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Engineering Roadmap (Phase 3 Extensions)</a:t>
            </a:r>
          </a:p>
          <a:p>
            <a:pPr>
              <a:spcBef>
                <a:spcPts val="300"/>
              </a:spcBef>
              <a:defRPr sz="1000">
                <a:solidFill>
                  <a:srgbClr val="6B7280"/>
                </a:solidFill>
                <a:latin typeface="Calibri"/>
              </a:defRPr>
            </a:pPr>
            <a:r>
              <a:t>Planned Technical Enhancements</a:t>
            </a:r>
          </a:p>
          <a:p>
            <a:pPr>
              <a:spcAft>
                <a:spcPts val="600"/>
              </a:spcAft>
              <a:defRPr sz="1050">
                <a:latin typeface="Calibri"/>
              </a:defRPr>
            </a:pPr>
            <a:r>
              <a:rPr b="1">
                <a:solidFill>
                  <a:srgbClr val="111827"/>
                </a:solidFill>
              </a:rPr>
              <a:t>•  Multi-Table Relational Joins: </a:t>
            </a:r>
            <a:r>
              <a:rPr b="0">
                <a:solidFill>
                  <a:srgbClr val="374151"/>
                </a:solidFill>
              </a:rPr>
              <a:t>Implementing Scan-Join trees, Nested Loop Joins, and Hash Join algorithms for multi-relation queries.</a:t>
            </a:r>
          </a:p>
          <a:p>
            <a:pPr>
              <a:spcAft>
                <a:spcPts val="600"/>
              </a:spcAft>
              <a:defRPr sz="1050">
                <a:latin typeface="Calibri"/>
              </a:defRPr>
            </a:pPr>
            <a:r>
              <a:rPr b="1">
                <a:solidFill>
                  <a:srgbClr val="111827"/>
                </a:solidFill>
              </a:rPr>
              <a:t>•  Aggregate Expressions: </a:t>
            </a:r>
            <a:r>
              <a:rPr b="0">
                <a:solidFill>
                  <a:srgbClr val="374151"/>
                </a:solidFill>
              </a:rPr>
              <a:t>Adding COUNT(), SUM(), AVG(), MIN(), MAX(), and GROUP BY / HAVING clauses to the grammar and execution engine.</a:t>
            </a:r>
          </a:p>
          <a:p>
            <a:pPr>
              <a:spcAft>
                <a:spcPts val="600"/>
              </a:spcAft>
              <a:defRPr sz="1050">
                <a:latin typeface="Calibri"/>
              </a:defRPr>
            </a:pPr>
            <a:r>
              <a:rPr b="1">
                <a:solidFill>
                  <a:srgbClr val="111827"/>
                </a:solidFill>
              </a:rPr>
              <a:t>•  Additional Algebraic Passes: </a:t>
            </a:r>
            <a:r>
              <a:rPr b="0">
                <a:solidFill>
                  <a:srgbClr val="374151"/>
                </a:solidFill>
              </a:rPr>
              <a:t>Implementing constant folding in WHERE predicates and dead attribute elimination in projection.</a:t>
            </a:r>
          </a:p>
          <a:p>
            <a:pPr>
              <a:spcAft>
                <a:spcPts val="600"/>
              </a:spcAft>
              <a:defRPr sz="1050">
                <a:latin typeface="Calibri"/>
              </a:defRPr>
            </a:pPr>
            <a:r>
              <a:rPr b="1">
                <a:solidFill>
                  <a:srgbClr val="111827"/>
                </a:solidFill>
              </a:rPr>
              <a:t>•  Execution Stepping Animation: </a:t>
            </a:r>
            <a:r>
              <a:rPr b="0">
                <a:solidFill>
                  <a:srgbClr val="374151"/>
                </a:solidFill>
              </a:rPr>
              <a:t>Visualizing row-by-row filtering in the UI, showing qualifying rows highlighted and pruned rows grayed out.</a:t>
            </a:r>
          </a:p>
          <a:p>
            <a:pPr>
              <a:spcAft>
                <a:spcPts val="600"/>
              </a:spcAft>
              <a:defRPr sz="1050">
                <a:latin typeface="Calibri"/>
              </a:defRPr>
            </a:pPr>
            <a:r>
              <a:rPr b="1">
                <a:solidFill>
                  <a:srgbClr val="111827"/>
                </a:solidFill>
              </a:rPr>
              <a:t>•  Automated Benchmark Suite: </a:t>
            </a:r>
            <a:r>
              <a:rPr b="0">
                <a:solidFill>
                  <a:srgbClr val="374151"/>
                </a:solidFill>
              </a:rPr>
              <a:t>Measuring execution times across scaling CSV sizes (100 to 10,000 tuples).</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Research Potential (ACM SIGCSE Venue)</a:t>
            </a:r>
          </a:p>
          <a:p>
            <a:pPr>
              <a:spcBef>
                <a:spcPts val="300"/>
              </a:spcBef>
              <a:defRPr sz="1000">
                <a:solidFill>
                  <a:srgbClr val="6B7280"/>
                </a:solidFill>
                <a:latin typeface="Calibri"/>
              </a:defRPr>
            </a:pPr>
            <a:r>
              <a:t>Educational Impact Evaluation Strategy</a:t>
            </a:r>
          </a:p>
          <a:p>
            <a:pPr>
              <a:spcAft>
                <a:spcPts val="600"/>
              </a:spcAft>
              <a:defRPr sz="1050">
                <a:latin typeface="Calibri"/>
              </a:defRPr>
            </a:pPr>
            <a:r>
              <a:rPr b="1">
                <a:solidFill>
                  <a:srgbClr val="111827"/>
                </a:solidFill>
              </a:rPr>
              <a:t>•  Target Conference Venue: </a:t>
            </a:r>
            <a:r>
              <a:rPr b="0">
                <a:solidFill>
                  <a:srgbClr val="374151"/>
                </a:solidFill>
              </a:rPr>
              <a:t>ACM Technical Symposium on Computer Science Education (SIGCSE) — premier computing education venue.</a:t>
            </a:r>
          </a:p>
          <a:p>
            <a:pPr>
              <a:spcAft>
                <a:spcPts val="600"/>
              </a:spcAft>
              <a:defRPr sz="1050">
                <a:latin typeface="Calibri"/>
              </a:defRPr>
            </a:pPr>
            <a:r>
              <a:rPr b="1">
                <a:solidFill>
                  <a:srgbClr val="111827"/>
                </a:solidFill>
              </a:rPr>
              <a:t>•  Proposed Research Question: </a:t>
            </a:r>
            <a:r>
              <a:rPr b="0">
                <a:solidFill>
                  <a:srgbClr val="374151"/>
                </a:solidFill>
              </a:rPr>
              <a:t>'Does an integrated, stage-by-stage visualization of a real SQL compiler improve undergraduate students' conceptual understanding and debugging accuracy compared to traditional instruction?'</a:t>
            </a:r>
          </a:p>
          <a:p>
            <a:pPr>
              <a:spcAft>
                <a:spcPts val="600"/>
              </a:spcAft>
              <a:defRPr sz="1050">
                <a:latin typeface="Calibri"/>
              </a:defRPr>
            </a:pPr>
            <a:r>
              <a:rPr b="1">
                <a:solidFill>
                  <a:srgbClr val="111827"/>
                </a:solidFill>
              </a:rPr>
              <a:t>•  Empirical Study Design: </a:t>
            </a:r>
            <a:r>
              <a:rPr b="0">
                <a:solidFill>
                  <a:srgbClr val="374151"/>
                </a:solidFill>
              </a:rPr>
              <a:t>Pre-test and post-test controlled classroom study evaluating student comprehension of ASTs, IR trees, and optimization passes.</a:t>
            </a:r>
          </a:p>
          <a:p>
            <a:pPr>
              <a:spcAft>
                <a:spcPts val="600"/>
              </a:spcAft>
              <a:defRPr sz="1050">
                <a:latin typeface="Calibri"/>
              </a:defRPr>
            </a:pPr>
            <a:r>
              <a:rPr b="1">
                <a:solidFill>
                  <a:srgbClr val="111827"/>
                </a:solidFill>
              </a:rPr>
              <a:t>•  Realistic Publication Prerequisite: </a:t>
            </a:r>
            <a:r>
              <a:rPr b="0">
                <a:solidFill>
                  <a:srgbClr val="374151"/>
                </a:solidFill>
              </a:rPr>
              <a:t>A working software tool alone is not a research paper; rigorous empirical evaluation with human student participants is required before submission.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CONCLUSION &amp; DEMO</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Conclusion &amp; Live Review Demonstration Plan</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20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Review 2 Summary of Achievements</a:t>
            </a:r>
          </a:p>
          <a:p>
            <a:pPr>
              <a:spcBef>
                <a:spcPts val="300"/>
              </a:spcBef>
              <a:defRPr sz="1000">
                <a:solidFill>
                  <a:srgbClr val="6B7280"/>
                </a:solidFill>
                <a:latin typeface="Calibri"/>
              </a:defRPr>
            </a:pPr>
            <a:r>
              <a:t>Current Milestone Overview</a:t>
            </a:r>
          </a:p>
          <a:p>
            <a:pPr>
              <a:spcAft>
                <a:spcPts val="600"/>
              </a:spcAft>
              <a:defRPr sz="1050">
                <a:latin typeface="Calibri"/>
              </a:defRPr>
            </a:pPr>
            <a:r>
              <a:rPr b="1">
                <a:solidFill>
                  <a:srgbClr val="111827"/>
                </a:solidFill>
              </a:rPr>
              <a:t>•  Fully Operational C++ Core: </a:t>
            </a:r>
            <a:r>
              <a:rPr b="0">
                <a:solidFill>
                  <a:srgbClr val="374151"/>
                </a:solidFill>
              </a:rPr>
              <a:t>Complete MiniSQL compiler engine implemented with Flex, Bison, and standard C++17.</a:t>
            </a:r>
          </a:p>
          <a:p>
            <a:pPr>
              <a:spcAft>
                <a:spcPts val="600"/>
              </a:spcAft>
              <a:defRPr sz="1050">
                <a:latin typeface="Calibri"/>
              </a:defRPr>
            </a:pPr>
            <a:r>
              <a:rPr b="1">
                <a:solidFill>
                  <a:srgbClr val="111827"/>
                </a:solidFill>
              </a:rPr>
              <a:t>•  10-Stage Pipeline: </a:t>
            </a:r>
            <a:r>
              <a:rPr b="0">
                <a:solidFill>
                  <a:srgbClr val="374151"/>
                </a:solidFill>
              </a:rPr>
              <a:t>Clean realization of lexical analysis, LALR(1) parsing, AST, symbol catalog, semantic checking, relational IR, algebraic optimization, and CSV execution.</a:t>
            </a:r>
          </a:p>
          <a:p>
            <a:pPr>
              <a:spcAft>
                <a:spcPts val="600"/>
              </a:spcAft>
              <a:defRPr sz="1050">
                <a:latin typeface="Calibri"/>
              </a:defRPr>
            </a:pPr>
            <a:r>
              <a:rPr b="1">
                <a:solidFill>
                  <a:srgbClr val="111827"/>
                </a:solidFill>
              </a:rPr>
              <a:t>•  Strict Fail-Stop Error System: </a:t>
            </a:r>
            <a:r>
              <a:rPr b="0">
                <a:solidFill>
                  <a:srgbClr val="374151"/>
                </a:solidFill>
              </a:rPr>
              <a:t>Verified error isolation across lexical, syntax, semantic, type, and runtime categories.</a:t>
            </a:r>
          </a:p>
          <a:p>
            <a:pPr>
              <a:spcAft>
                <a:spcPts val="600"/>
              </a:spcAft>
              <a:defRPr sz="1050">
                <a:latin typeface="Calibri"/>
              </a:defRPr>
            </a:pPr>
            <a:r>
              <a:rPr b="1">
                <a:solidFill>
                  <a:srgbClr val="111827"/>
                </a:solidFill>
              </a:rPr>
              <a:t>•  26/26 Automated Tests Passing: </a:t>
            </a:r>
            <a:r>
              <a:rPr b="0">
                <a:solidFill>
                  <a:srgbClr val="374151"/>
                </a:solidFill>
              </a:rPr>
              <a:t>100% test pass rate across all functional and boundary test suites.</a:t>
            </a:r>
          </a:p>
          <a:p>
            <a:pPr>
              <a:spcAft>
                <a:spcPts val="600"/>
              </a:spcAft>
              <a:defRPr sz="1050">
                <a:latin typeface="Calibri"/>
              </a:defRPr>
            </a:pPr>
            <a:r>
              <a:rPr b="1">
                <a:solidFill>
                  <a:srgbClr val="111827"/>
                </a:solidFill>
              </a:rPr>
              <a:t>•  Integrated Web Workbench: </a:t>
            </a:r>
            <a:r>
              <a:rPr b="0">
                <a:solidFill>
                  <a:srgbClr val="374151"/>
                </a:solidFill>
              </a:rPr>
              <a:t>Fully functional local React/Node visualizer connected directly to minisql.exe.</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Live Review Demonstration Sequence</a:t>
            </a:r>
          </a:p>
          <a:p>
            <a:pPr>
              <a:spcBef>
                <a:spcPts val="300"/>
              </a:spcBef>
              <a:defRPr sz="1000">
                <a:solidFill>
                  <a:srgbClr val="6B7280"/>
                </a:solidFill>
                <a:latin typeface="Calibri"/>
              </a:defRPr>
            </a:pPr>
            <a:r>
              <a:t>Planned Viva Demonstration Steps</a:t>
            </a:r>
          </a:p>
          <a:p>
            <a:pPr>
              <a:spcAft>
                <a:spcPts val="500"/>
              </a:spcAft>
              <a:defRPr sz="1050">
                <a:latin typeface="Calibri"/>
              </a:defRPr>
            </a:pPr>
            <a:r>
              <a:rPr b="1">
                <a:solidFill>
                  <a:srgbClr val="111827"/>
                </a:solidFill>
              </a:rPr>
              <a:t>•  Step 1 - The Grand Tour Query: </a:t>
            </a:r>
            <a:r>
              <a:rPr b="0">
                <a:solidFill>
                  <a:srgbClr val="374151"/>
                </a:solidFill>
              </a:rPr>
              <a:t>Execute 'SELECT name, age FROM students WHERE age &gt;= 20 ORDER BY cgpa LIMIT 3;' to showcase all 10 stages from tokens to result.</a:t>
            </a:r>
          </a:p>
          <a:p>
            <a:pPr>
              <a:spcAft>
                <a:spcPts val="500"/>
              </a:spcAft>
              <a:defRPr sz="1050">
                <a:latin typeface="Calibri"/>
              </a:defRPr>
            </a:pPr>
            <a:r>
              <a:rPr b="1">
                <a:solidFill>
                  <a:srgbClr val="111827"/>
                </a:solidFill>
              </a:rPr>
              <a:t>•  Step 2 - Relational Optimization Inspection: </a:t>
            </a:r>
            <a:r>
              <a:rPr b="0">
                <a:solidFill>
                  <a:srgbClr val="374151"/>
                </a:solidFill>
              </a:rPr>
              <a:t>Inspect side-by-side Canonical vs. Optimized IR plan and verify the Late Projection rule rewrite.</a:t>
            </a:r>
          </a:p>
          <a:p>
            <a:pPr>
              <a:spcAft>
                <a:spcPts val="500"/>
              </a:spcAft>
              <a:defRPr sz="1050">
                <a:latin typeface="Calibri"/>
              </a:defRPr>
            </a:pPr>
            <a:r>
              <a:rPr b="1">
                <a:solidFill>
                  <a:srgbClr val="111827"/>
                </a:solidFill>
              </a:rPr>
              <a:t>•  Step 3 - Semantic Fail-Stop Demonstration: </a:t>
            </a:r>
            <a:r>
              <a:rPr b="0">
                <a:solidFill>
                  <a:srgbClr val="374151"/>
                </a:solidFill>
              </a:rPr>
              <a:t>Execute 'SELECT salary FROM students;' to prove pipeline halt at Stage 06 with non-existent column diagnostic.</a:t>
            </a:r>
          </a:p>
          <a:p>
            <a:pPr>
              <a:spcAft>
                <a:spcPts val="500"/>
              </a:spcAft>
              <a:defRPr sz="1050">
                <a:latin typeface="Calibri"/>
              </a:defRPr>
            </a:pPr>
            <a:r>
              <a:rPr b="1">
                <a:solidFill>
                  <a:srgbClr val="111827"/>
                </a:solidFill>
              </a:rPr>
              <a:t>•  Step 4 - Lexical Error Demonstration: </a:t>
            </a:r>
            <a:r>
              <a:rPr b="0">
                <a:solidFill>
                  <a:srgbClr val="374151"/>
                </a:solidFill>
              </a:rPr>
              <a:t>Execute 'SELECT @name FROM students;' to prove front-end lexical character rejection at Stage 02.</a:t>
            </a:r>
          </a:p>
          <a:p>
            <a:pPr>
              <a:spcAft>
                <a:spcPts val="500"/>
              </a:spcAft>
              <a:defRPr sz="1050">
                <a:latin typeface="Calibri"/>
              </a:defRPr>
            </a:pPr>
            <a:r>
              <a:rPr b="1">
                <a:solidFill>
                  <a:srgbClr val="111827"/>
                </a:solidFill>
              </a:rPr>
              <a:t>•  Step 5 - Automated Test Suite: </a:t>
            </a:r>
            <a:r>
              <a:rPr b="0">
                <a:solidFill>
                  <a:srgbClr val="374151"/>
                </a:solidFill>
              </a:rPr>
              <a:t>Execute .\run_tests.ps1 in PowerShell to demonstrate 26/26 passing automated tests.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0040"/>
            <a:ext cx="8229600" cy="256032"/>
          </a:xfrm>
          <a:prstGeom prst="rect">
            <a:avLst/>
          </a:prstGeom>
          <a:noFill/>
        </p:spPr>
        <p:txBody>
          <a:bodyPr wrap="square" lIns="0" tIns="0" rIns="0" bIns="0">
            <a:spAutoFit/>
          </a:bodyPr>
          <a:lstStyle/>
          <a:p>
            <a:pPr>
              <a:defRPr sz="950" b="1">
                <a:solidFill>
                  <a:srgbClr val="6B7280"/>
                </a:solidFill>
                <a:latin typeface="Calibri"/>
              </a:defRPr>
            </a:pPr>
            <a:r>
              <a:t>REFERENCES</a:t>
            </a:r>
          </a:p>
        </p:txBody>
      </p:sp>
      <p:sp>
        <p:nvSpPr>
          <p:cNvPr id="3" name="TextBox 2"/>
          <p:cNvSpPr txBox="1"/>
          <p:nvPr/>
        </p:nvSpPr>
        <p:spPr>
          <a:xfrm>
            <a:off x="731520" y="566928"/>
            <a:ext cx="9601200" cy="502920"/>
          </a:xfrm>
          <a:prstGeom prst="rect">
            <a:avLst/>
          </a:prstGeom>
          <a:noFill/>
        </p:spPr>
        <p:txBody>
          <a:bodyPr wrap="square" lIns="0" tIns="0" rIns="0" bIns="0">
            <a:spAutoFit/>
          </a:bodyPr>
          <a:lstStyle/>
          <a:p>
            <a:pPr>
              <a:defRPr sz="2000" b="1">
                <a:solidFill>
                  <a:srgbClr val="111827"/>
                </a:solidFill>
                <a:latin typeface="Calibri"/>
              </a:defRPr>
            </a:pPr>
            <a:r>
              <a:t>Academic References &amp; Project Bibliography</a:t>
            </a:r>
          </a:p>
        </p:txBody>
      </p:sp>
      <p:sp>
        <p:nvSpPr>
          <p:cNvPr id="4" name="Rectangle 3"/>
          <p:cNvSpPr/>
          <p:nvPr/>
        </p:nvSpPr>
        <p:spPr>
          <a:xfrm>
            <a:off x="731520" y="1115568"/>
            <a:ext cx="10728655" cy="13716"/>
          </a:xfrm>
          <a:prstGeom prst="rect">
            <a:avLst/>
          </a:prstGeom>
          <a:solidFill>
            <a:srgbClr val="D1D5DB"/>
          </a:solidFill>
          <a:ln>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7315200" cy="274320"/>
          </a:xfrm>
          <a:prstGeom prst="rect">
            <a:avLst/>
          </a:prstGeom>
          <a:noFill/>
        </p:spPr>
        <p:txBody>
          <a:bodyPr wrap="none" lIns="0" tIns="0" rIns="0" bIns="0">
            <a:spAutoFit/>
          </a:bodyPr>
          <a:lstStyle/>
          <a:p>
            <a:pPr>
              <a:defRPr sz="900">
                <a:solidFill>
                  <a:srgbClr val="6B7280"/>
                </a:solidFill>
                <a:latin typeface="Calibri"/>
              </a:defRPr>
            </a:pPr>
            <a:r>
              <a:t>SQLens: Educational SQL Compiler | BCSE307P Review 2</a:t>
            </a:r>
          </a:p>
        </p:txBody>
      </p:sp>
      <p:sp>
        <p:nvSpPr>
          <p:cNvPr id="6" name="TextBox 5"/>
          <p:cNvSpPr txBox="1"/>
          <p:nvPr/>
        </p:nvSpPr>
        <p:spPr>
          <a:xfrm>
            <a:off x="9631375" y="6446520"/>
            <a:ext cx="1828800" cy="274320"/>
          </a:xfrm>
          <a:prstGeom prst="rect">
            <a:avLst/>
          </a:prstGeom>
          <a:noFill/>
        </p:spPr>
        <p:txBody>
          <a:bodyPr wrap="none" lIns="0" tIns="0" rIns="0" bIns="0">
            <a:spAutoFit/>
          </a:bodyPr>
          <a:lstStyle/>
          <a:p>
            <a:pPr algn="r">
              <a:defRPr sz="900">
                <a:solidFill>
                  <a:srgbClr val="6B7280"/>
                </a:solidFill>
                <a:latin typeface="Calibri"/>
              </a:defRPr>
            </a:pPr>
            <a:r>
              <a:t>21 / 21</a:t>
            </a:r>
          </a:p>
        </p:txBody>
      </p:sp>
      <p:sp>
        <p:nvSpPr>
          <p:cNvPr id="7" name="Rounded Rectangle 6"/>
          <p:cNvSpPr/>
          <p:nvPr/>
        </p:nvSpPr>
        <p:spPr>
          <a:xfrm>
            <a:off x="7315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Peer-Reviewed Academic Literature</a:t>
            </a:r>
          </a:p>
          <a:p>
            <a:pPr>
              <a:spcBef>
                <a:spcPts val="300"/>
              </a:spcBef>
              <a:defRPr sz="1000">
                <a:solidFill>
                  <a:srgbClr val="6B7280"/>
                </a:solidFill>
                <a:latin typeface="Calibri"/>
              </a:defRPr>
            </a:pPr>
            <a:r>
              <a:t>Primary Scholarly Works</a:t>
            </a:r>
          </a:p>
          <a:p>
            <a:pPr>
              <a:spcAft>
                <a:spcPts val="600"/>
              </a:spcAft>
              <a:defRPr sz="950">
                <a:latin typeface="Calibri"/>
              </a:defRPr>
            </a:pPr>
            <a:r>
              <a:rPr b="1">
                <a:solidFill>
                  <a:srgbClr val="111827"/>
                </a:solidFill>
              </a:rPr>
              <a:t>•  [1] Stamenković, D., Jovanović, Z., &amp; Chakraborty, P. (2020). Evaluation of simulation systems suitable for teaching compiler construction courses. Computer Applications in Engineering Education, 28(5), 1160–1177. DOI: </a:t>
            </a:r>
            <a:r>
              <a:rPr b="0">
                <a:solidFill>
                  <a:srgbClr val="374151"/>
                </a:solidFill>
              </a:rPr>
              <a:t>10.1002/cae.22231</a:t>
            </a:r>
          </a:p>
          <a:p>
            <a:pPr>
              <a:spcAft>
                <a:spcPts val="600"/>
              </a:spcAft>
              <a:defRPr sz="950">
                <a:latin typeface="Calibri"/>
              </a:defRPr>
            </a:pPr>
            <a:r>
              <a:rPr b="1">
                <a:solidFill>
                  <a:srgbClr val="111827"/>
                </a:solidFill>
              </a:rPr>
              <a:t>•  [2] del Vado Vírseda, R. (2021). Learning Compiler Design: </a:t>
            </a:r>
            <a:r>
              <a:rPr b="0">
                <a:solidFill>
                  <a:srgbClr val="374151"/>
                </a:solidFill>
              </a:rPr>
              <a:t>From the Implementation to Theory. In Proc. 26th ACM Conf. Innovation and Technology in Computer Science Education (ITiCSE 2021), pp. 282–288. DOI: 10.1145/3456565.3460041</a:t>
            </a:r>
          </a:p>
          <a:p>
            <a:pPr>
              <a:spcAft>
                <a:spcPts val="600"/>
              </a:spcAft>
              <a:defRPr sz="950">
                <a:latin typeface="Calibri"/>
              </a:defRPr>
            </a:pPr>
            <a:r>
              <a:rPr b="1">
                <a:solidFill>
                  <a:srgbClr val="111827"/>
                </a:solidFill>
              </a:rPr>
              <a:t>•  [3] del Vado Vírseda, R. (2022). ITT: </a:t>
            </a:r>
            <a:r>
              <a:rPr b="0">
                <a:solidFill>
                  <a:srgbClr val="374151"/>
                </a:solidFill>
              </a:rPr>
              <a:t>An Interactive Tutoring Tool to Improve the Learning and Visualization of Compiler Design Theory From Implementation. In Proc. 53rd ACM Technical Symposium on Computer Science Education (SIGCSE 2022), pp. 696–702. DOI: 10.1145/3478432.3499140</a:t>
            </a:r>
          </a:p>
          <a:p>
            <a:pPr>
              <a:spcAft>
                <a:spcPts val="600"/>
              </a:spcAft>
              <a:defRPr sz="950">
                <a:latin typeface="Calibri"/>
              </a:defRPr>
            </a:pPr>
            <a:r>
              <a:rPr b="1">
                <a:solidFill>
                  <a:srgbClr val="111827"/>
                </a:solidFill>
              </a:rPr>
              <a:t>•  [4] Hiranishi, Y., et al. (2022). Application of Web-based Visual Compiler to Computer Education. IEEJ Trans. EIS, 142(4), 389–396. DOI: </a:t>
            </a:r>
            <a:r>
              <a:rPr b="0">
                <a:solidFill>
                  <a:srgbClr val="374151"/>
                </a:solidFill>
              </a:rPr>
              <a:t>10.1541/ieejeiss.142.389</a:t>
            </a:r>
          </a:p>
        </p:txBody>
      </p:sp>
      <p:sp>
        <p:nvSpPr>
          <p:cNvPr id="8" name="Rounded Rectangle 7"/>
          <p:cNvSpPr/>
          <p:nvPr/>
        </p:nvSpPr>
        <p:spPr>
          <a:xfrm>
            <a:off x="6217920" y="1371600"/>
            <a:ext cx="5212080" cy="4846320"/>
          </a:xfrm>
          <a:prstGeom prst="roundRect">
            <a:avLst/>
          </a:prstGeom>
          <a:solidFill>
            <a:srgbClr val="F9FAFB"/>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lIns="182880" tIns="164592" rIns="182880" bIns="164592"/>
          <a:lstStyle/>
          <a:p>
            <a:pPr algn="ctr">
              <a:defRPr sz="1300" b="1">
                <a:solidFill>
                  <a:srgbClr val="111827"/>
                </a:solidFill>
                <a:latin typeface="Calibri"/>
              </a:defRPr>
            </a:pPr>
            <a:r>
              <a:t>Recent Work, Texts &amp; University Guidelines</a:t>
            </a:r>
          </a:p>
          <a:p>
            <a:pPr>
              <a:spcBef>
                <a:spcPts val="300"/>
              </a:spcBef>
              <a:defRPr sz="1000">
                <a:solidFill>
                  <a:srgbClr val="6B7280"/>
                </a:solidFill>
                <a:latin typeface="Calibri"/>
              </a:defRPr>
            </a:pPr>
            <a:r>
              <a:t>Supplementary Citations</a:t>
            </a:r>
          </a:p>
          <a:p>
            <a:pPr>
              <a:spcAft>
                <a:spcPts val="600"/>
              </a:spcAft>
              <a:defRPr sz="950">
                <a:latin typeface="Calibri"/>
              </a:defRPr>
            </a:pPr>
            <a:r>
              <a:rPr b="1">
                <a:solidFill>
                  <a:srgbClr val="111827"/>
                </a:solidFill>
              </a:rPr>
              <a:t>•  [5] Stamenković, D., &amp; Jovanović, Z. (2024). A Web-Based Educational System for Teaching Compilers. IEEE Transactions on Learning Technologies, 17, 819–830. DOI: </a:t>
            </a:r>
            <a:r>
              <a:rPr b="0">
                <a:solidFill>
                  <a:srgbClr val="374151"/>
                </a:solidFill>
              </a:rPr>
              <a:t>10.1109/TLT.2023.3297626</a:t>
            </a:r>
          </a:p>
          <a:p>
            <a:pPr>
              <a:spcAft>
                <a:spcPts val="600"/>
              </a:spcAft>
              <a:defRPr sz="950">
                <a:latin typeface="Calibri"/>
              </a:defRPr>
            </a:pPr>
            <a:r>
              <a:rPr>
                <a:solidFill>
                  <a:srgbClr val="374151"/>
                </a:solidFill>
              </a:rPr>
              <a:t>•  [6] Koitz-Hristov, R., Mandl, M., &amp; Wotawa, F. (2025). VisOpt – Visualization of Compiler Optimizations for Computer Science Education. In Proc. 56th ACM Technical Symposium on Computer Science Education (SIGCSE TS 2025), Pittsburgh, PA, USA.</a:t>
            </a:r>
          </a:p>
          <a:p>
            <a:pPr>
              <a:spcAft>
                <a:spcPts val="600"/>
              </a:spcAft>
              <a:defRPr sz="950">
                <a:latin typeface="Calibri"/>
              </a:defRPr>
            </a:pPr>
            <a:r>
              <a:rPr>
                <a:solidFill>
                  <a:srgbClr val="374151"/>
                </a:solidFill>
              </a:rPr>
              <a:t>•  [7] School of Computer Science and Engineering, Vellore Institute of Technology. (2026). Compiler Design Laboratory Project Instruction Manual (BCSE307P), VIT Vellore, India.</a:t>
            </a:r>
          </a:p>
          <a:p>
            <a:pPr>
              <a:spcAft>
                <a:spcPts val="600"/>
              </a:spcAft>
              <a:defRPr sz="950">
                <a:latin typeface="Calibri"/>
              </a:defRPr>
            </a:pPr>
            <a:r>
              <a:rPr b="1">
                <a:solidFill>
                  <a:srgbClr val="111827"/>
                </a:solidFill>
              </a:rPr>
              <a:t>•  [8] Aho, A. V., Lam, M. S., Sethi, R., &amp; Ullman, J. D. (2006). Compilers: </a:t>
            </a:r>
            <a:r>
              <a:rPr b="0">
                <a:solidFill>
                  <a:srgbClr val="374151"/>
                </a:solidFill>
              </a:rPr>
              <a:t>Principles, Techniques, and Tools (2nd ed.). Addison-Wesley.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